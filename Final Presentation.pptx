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Anton" panose="020F0502020204030204" pitchFamily="2" charset="0"/>
      <p:regular r:id="rId17"/>
    </p:embeddedFont>
    <p:embeddedFont>
      <p:font typeface="Antonio Bold" panose="020B0604020202020204" charset="0"/>
      <p:regular r:id="rId18"/>
    </p:embeddedFont>
    <p:embeddedFont>
      <p:font typeface="Canva Sans" panose="020B0604020202020204" charset="0"/>
      <p:regular r:id="rId19"/>
    </p:embeddedFont>
    <p:embeddedFont>
      <p:font typeface="DM Sans" pitchFamily="2" charset="0"/>
      <p:regular r:id="rId20"/>
    </p:embeddedFont>
    <p:embeddedFont>
      <p:font typeface="DM Sans Bold"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7" d="100"/>
          <a:sy n="57" d="100"/>
        </p:scale>
        <p:origin x="387" y="5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0.svg"/></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0.sv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10.sv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hyperlink" Target="https://us2.make.com/699887/scenarios/1431597/edit" TargetMode="External"/><Relationship Id="rId5" Type="http://schemas.openxmlformats.org/officeDocument/2006/relationships/hyperlink" Target="https://udify.app/chat/T6MxcizqM3HRO8O2" TargetMode="External"/><Relationship Id="rId4" Type="http://schemas.openxmlformats.org/officeDocument/2006/relationships/hyperlink" Target="https://github.com/yash10parihar/AutoShopIQ.g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114425"/>
            <a:ext cx="12454850" cy="5151122"/>
          </a:xfrm>
          <a:prstGeom prst="rect">
            <a:avLst/>
          </a:prstGeom>
        </p:spPr>
        <p:txBody>
          <a:bodyPr lIns="0" tIns="0" rIns="0" bIns="0" rtlCol="0" anchor="t">
            <a:spAutoFit/>
          </a:bodyPr>
          <a:lstStyle/>
          <a:p>
            <a:pPr algn="l">
              <a:lnSpc>
                <a:spcPts val="13440"/>
              </a:lnSpc>
            </a:pPr>
            <a:r>
              <a:rPr lang="en-US" sz="12000">
                <a:solidFill>
                  <a:srgbClr val="004AAD"/>
                </a:solidFill>
                <a:latin typeface="Anton"/>
                <a:ea typeface="Anton"/>
                <a:cs typeface="Anton"/>
                <a:sym typeface="Anton"/>
              </a:rPr>
              <a:t>REPAIR RECOMMENDATION SYSTEM</a:t>
            </a:r>
          </a:p>
        </p:txBody>
      </p:sp>
      <p:grpSp>
        <p:nvGrpSpPr>
          <p:cNvPr id="3" name="Group 3"/>
          <p:cNvGrpSpPr/>
          <p:nvPr/>
        </p:nvGrpSpPr>
        <p:grpSpPr>
          <a:xfrm>
            <a:off x="5636382" y="4428680"/>
            <a:ext cx="2493877" cy="1176483"/>
            <a:chOff x="0" y="-66675"/>
            <a:chExt cx="656824" cy="309856"/>
          </a:xfrm>
        </p:grpSpPr>
        <p:sp>
          <p:nvSpPr>
            <p:cNvPr id="4" name="Freeform 4"/>
            <p:cNvSpPr/>
            <p:nvPr/>
          </p:nvSpPr>
          <p:spPr>
            <a:xfrm>
              <a:off x="0" y="-33338"/>
              <a:ext cx="656824" cy="243181"/>
            </a:xfrm>
            <a:custGeom>
              <a:avLst/>
              <a:gdLst/>
              <a:ahLst/>
              <a:cxnLst/>
              <a:rect l="l" t="t" r="r" b="b"/>
              <a:pathLst>
                <a:path w="656824" h="243181">
                  <a:moveTo>
                    <a:pt x="121590" y="0"/>
                  </a:moveTo>
                  <a:lnTo>
                    <a:pt x="535233" y="0"/>
                  </a:lnTo>
                  <a:cubicBezTo>
                    <a:pt x="602386" y="0"/>
                    <a:pt x="656824" y="54438"/>
                    <a:pt x="656824" y="121590"/>
                  </a:cubicBezTo>
                  <a:lnTo>
                    <a:pt x="656824" y="121590"/>
                  </a:lnTo>
                  <a:cubicBezTo>
                    <a:pt x="656824" y="188743"/>
                    <a:pt x="602386" y="243181"/>
                    <a:pt x="535233" y="243181"/>
                  </a:cubicBezTo>
                  <a:lnTo>
                    <a:pt x="121590" y="243181"/>
                  </a:lnTo>
                  <a:cubicBezTo>
                    <a:pt x="54438" y="243181"/>
                    <a:pt x="0" y="188743"/>
                    <a:pt x="0" y="121590"/>
                  </a:cubicBezTo>
                  <a:lnTo>
                    <a:pt x="0" y="121590"/>
                  </a:lnTo>
                  <a:cubicBezTo>
                    <a:pt x="0" y="54438"/>
                    <a:pt x="54438" y="0"/>
                    <a:pt x="121590" y="0"/>
                  </a:cubicBezTo>
                  <a:close/>
                </a:path>
              </a:pathLst>
            </a:custGeom>
            <a:solidFill>
              <a:srgbClr val="FF3131"/>
            </a:solidFill>
            <a:ln w="38100" cap="rnd">
              <a:solidFill>
                <a:srgbClr val="000000"/>
              </a:solidFill>
              <a:prstDash val="solid"/>
              <a:round/>
            </a:ln>
          </p:spPr>
          <p:txBody>
            <a:bodyPr/>
            <a:lstStyle/>
            <a:p>
              <a:endParaRPr lang="en-US"/>
            </a:p>
          </p:txBody>
        </p:sp>
        <p:sp>
          <p:nvSpPr>
            <p:cNvPr id="5" name="TextBox 5"/>
            <p:cNvSpPr txBox="1"/>
            <p:nvPr/>
          </p:nvSpPr>
          <p:spPr>
            <a:xfrm>
              <a:off x="0" y="-66675"/>
              <a:ext cx="656824" cy="309856"/>
            </a:xfrm>
            <a:prstGeom prst="rect">
              <a:avLst/>
            </a:prstGeom>
          </p:spPr>
          <p:txBody>
            <a:bodyPr lIns="50800" tIns="50800" rIns="50800" bIns="50800" rtlCol="0" anchor="ctr"/>
            <a:lstStyle/>
            <a:p>
              <a:pPr algn="ctr">
                <a:lnSpc>
                  <a:spcPts val="4900"/>
                </a:lnSpc>
                <a:spcBef>
                  <a:spcPct val="0"/>
                </a:spcBef>
              </a:pPr>
              <a:r>
                <a:rPr lang="en-US" sz="3500" b="1" dirty="0">
                  <a:solidFill>
                    <a:srgbClr val="FFFFFF"/>
                  </a:solidFill>
                  <a:latin typeface="Antonio Bold"/>
                  <a:ea typeface="Antonio Bold"/>
                  <a:cs typeface="Antonio Bold"/>
                  <a:sym typeface="Antonio Bold"/>
                </a:rPr>
                <a:t>AUTOSHOPIQ</a:t>
              </a:r>
            </a:p>
          </p:txBody>
        </p:sp>
      </p:grpSp>
      <p:sp>
        <p:nvSpPr>
          <p:cNvPr id="6" name="TextBox 6"/>
          <p:cNvSpPr txBox="1"/>
          <p:nvPr/>
        </p:nvSpPr>
        <p:spPr>
          <a:xfrm>
            <a:off x="1028700" y="7752984"/>
            <a:ext cx="7956609" cy="2031365"/>
          </a:xfrm>
          <a:prstGeom prst="rect">
            <a:avLst/>
          </a:prstGeom>
        </p:spPr>
        <p:txBody>
          <a:bodyPr lIns="0" tIns="0" rIns="0" bIns="0" rtlCol="0" anchor="t">
            <a:spAutoFit/>
          </a:bodyPr>
          <a:lstStyle/>
          <a:p>
            <a:pPr algn="l">
              <a:lnSpc>
                <a:spcPts val="4200"/>
              </a:lnSpc>
            </a:pPr>
            <a:r>
              <a:rPr lang="en-US" sz="3000" b="1">
                <a:solidFill>
                  <a:srgbClr val="000000"/>
                </a:solidFill>
                <a:latin typeface="DM Sans Bold"/>
                <a:ea typeface="DM Sans Bold"/>
                <a:cs typeface="DM Sans Bold"/>
                <a:sym typeface="DM Sans Bold"/>
              </a:rPr>
              <a:t>Presented By: </a:t>
            </a:r>
            <a:r>
              <a:rPr lang="en-US" sz="3000">
                <a:solidFill>
                  <a:srgbClr val="000000"/>
                </a:solidFill>
                <a:latin typeface="DM Sans"/>
                <a:ea typeface="DM Sans"/>
                <a:cs typeface="DM Sans"/>
                <a:sym typeface="DM Sans"/>
              </a:rPr>
              <a:t>Team 1</a:t>
            </a:r>
          </a:p>
          <a:p>
            <a:pPr algn="l">
              <a:lnSpc>
                <a:spcPts val="4060"/>
              </a:lnSpc>
            </a:pPr>
            <a:r>
              <a:rPr lang="en-US" sz="2900">
                <a:solidFill>
                  <a:srgbClr val="000000"/>
                </a:solidFill>
                <a:latin typeface="DM Sans"/>
                <a:ea typeface="DM Sans"/>
                <a:cs typeface="DM Sans"/>
                <a:sym typeface="DM Sans"/>
              </a:rPr>
              <a:t>Yash Parihar</a:t>
            </a:r>
          </a:p>
          <a:p>
            <a:pPr algn="l">
              <a:lnSpc>
                <a:spcPts val="3920"/>
              </a:lnSpc>
            </a:pPr>
            <a:r>
              <a:rPr lang="en-US" sz="2800">
                <a:solidFill>
                  <a:srgbClr val="000000"/>
                </a:solidFill>
                <a:latin typeface="DM Sans"/>
                <a:ea typeface="DM Sans"/>
                <a:cs typeface="DM Sans"/>
                <a:sym typeface="DM Sans"/>
              </a:rPr>
              <a:t>Abhir Shah</a:t>
            </a:r>
          </a:p>
          <a:p>
            <a:pPr algn="l">
              <a:lnSpc>
                <a:spcPts val="3920"/>
              </a:lnSpc>
              <a:spcBef>
                <a:spcPct val="0"/>
              </a:spcBef>
            </a:pPr>
            <a:r>
              <a:rPr lang="en-US" sz="2800">
                <a:solidFill>
                  <a:srgbClr val="000000"/>
                </a:solidFill>
                <a:latin typeface="DM Sans"/>
                <a:ea typeface="DM Sans"/>
                <a:cs typeface="DM Sans"/>
                <a:sym typeface="DM Sans"/>
              </a:rPr>
              <a:t>Nimisha Ekka</a:t>
            </a:r>
          </a:p>
        </p:txBody>
      </p:sp>
      <p:sp>
        <p:nvSpPr>
          <p:cNvPr id="7" name="Freeform 7"/>
          <p:cNvSpPr/>
          <p:nvPr/>
        </p:nvSpPr>
        <p:spPr>
          <a:xfrm flipH="1">
            <a:off x="9144000" y="3433298"/>
            <a:ext cx="8869496" cy="6853702"/>
          </a:xfrm>
          <a:custGeom>
            <a:avLst/>
            <a:gdLst/>
            <a:ahLst/>
            <a:cxnLst/>
            <a:rect l="l" t="t" r="r" b="b"/>
            <a:pathLst>
              <a:path w="8869496" h="6853702">
                <a:moveTo>
                  <a:pt x="8869496" y="0"/>
                </a:moveTo>
                <a:lnTo>
                  <a:pt x="0" y="0"/>
                </a:lnTo>
                <a:lnTo>
                  <a:pt x="0" y="6853702"/>
                </a:lnTo>
                <a:lnTo>
                  <a:pt x="8869496" y="6853702"/>
                </a:lnTo>
                <a:lnTo>
                  <a:pt x="8869496"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1028700" y="6121503"/>
            <a:ext cx="3018943" cy="1698155"/>
          </a:xfrm>
          <a:custGeom>
            <a:avLst/>
            <a:gdLst/>
            <a:ahLst/>
            <a:cxnLst/>
            <a:rect l="l" t="t" r="r" b="b"/>
            <a:pathLst>
              <a:path w="3018943" h="1698155">
                <a:moveTo>
                  <a:pt x="0" y="0"/>
                </a:moveTo>
                <a:lnTo>
                  <a:pt x="3018943" y="0"/>
                </a:lnTo>
                <a:lnTo>
                  <a:pt x="3018943" y="1698156"/>
                </a:lnTo>
                <a:lnTo>
                  <a:pt x="0" y="1698156"/>
                </a:lnTo>
                <a:lnTo>
                  <a:pt x="0" y="0"/>
                </a:lnTo>
                <a:close/>
              </a:path>
            </a:pathLst>
          </a:custGeom>
          <a:blipFill>
            <a:blip r:embed="rId4"/>
            <a:stretch>
              <a:fillRect/>
            </a:stretch>
          </a:blipFill>
        </p:spPr>
        <p:txBody>
          <a:bodyPr/>
          <a:lstStyle/>
          <a:p>
            <a:endParaRPr lang="en-US"/>
          </a:p>
        </p:txBody>
      </p:sp>
      <p:sp>
        <p:nvSpPr>
          <p:cNvPr id="9" name="TextBox 9"/>
          <p:cNvSpPr txBox="1"/>
          <p:nvPr/>
        </p:nvSpPr>
        <p:spPr>
          <a:xfrm>
            <a:off x="3255478" y="8340259"/>
            <a:ext cx="2571849" cy="405765"/>
          </a:xfrm>
          <a:prstGeom prst="rect">
            <a:avLst/>
          </a:prstGeom>
        </p:spPr>
        <p:txBody>
          <a:bodyPr lIns="0" tIns="0" rIns="0" bIns="0" rtlCol="0" anchor="t">
            <a:spAutoFit/>
          </a:bodyPr>
          <a:lstStyle/>
          <a:p>
            <a:pPr algn="l">
              <a:lnSpc>
                <a:spcPts val="3359"/>
              </a:lnSpc>
              <a:spcBef>
                <a:spcPct val="0"/>
              </a:spcBef>
            </a:pPr>
            <a:r>
              <a:rPr lang="en-US" sz="2400">
                <a:solidFill>
                  <a:srgbClr val="000000"/>
                </a:solidFill>
                <a:latin typeface="DM Sans"/>
                <a:ea typeface="DM Sans"/>
                <a:cs typeface="DM Sans"/>
                <a:sym typeface="DM Sans"/>
              </a:rPr>
              <a:t>(Project Manager)</a:t>
            </a:r>
          </a:p>
        </p:txBody>
      </p:sp>
      <p:sp>
        <p:nvSpPr>
          <p:cNvPr id="10" name="TextBox 10"/>
          <p:cNvSpPr txBox="1"/>
          <p:nvPr/>
        </p:nvSpPr>
        <p:spPr>
          <a:xfrm>
            <a:off x="2950234" y="8838834"/>
            <a:ext cx="2571849" cy="389255"/>
          </a:xfrm>
          <a:prstGeom prst="rect">
            <a:avLst/>
          </a:prstGeom>
        </p:spPr>
        <p:txBody>
          <a:bodyPr lIns="0" tIns="0" rIns="0" bIns="0" rtlCol="0" anchor="t">
            <a:spAutoFit/>
          </a:bodyPr>
          <a:lstStyle/>
          <a:p>
            <a:pPr algn="l">
              <a:lnSpc>
                <a:spcPts val="3220"/>
              </a:lnSpc>
              <a:spcBef>
                <a:spcPct val="0"/>
              </a:spcBef>
            </a:pPr>
            <a:r>
              <a:rPr lang="en-US" sz="2300">
                <a:solidFill>
                  <a:srgbClr val="000000"/>
                </a:solidFill>
                <a:latin typeface="DM Sans"/>
                <a:ea typeface="DM Sans"/>
                <a:cs typeface="DM Sans"/>
                <a:sym typeface="DM Sans"/>
              </a:rPr>
              <a:t>(Sponsor Liaison)</a:t>
            </a:r>
          </a:p>
        </p:txBody>
      </p:sp>
      <p:sp>
        <p:nvSpPr>
          <p:cNvPr id="11" name="TextBox 1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38225"/>
            <a:ext cx="16230600" cy="1200785"/>
          </a:xfrm>
          <a:prstGeom prst="rect">
            <a:avLst/>
          </a:prstGeom>
        </p:spPr>
        <p:txBody>
          <a:bodyPr lIns="0" tIns="0" rIns="0" bIns="0" rtlCol="0" anchor="t">
            <a:spAutoFit/>
          </a:bodyPr>
          <a:lstStyle/>
          <a:p>
            <a:pPr algn="ctr">
              <a:lnSpc>
                <a:spcPts val="9520"/>
              </a:lnSpc>
            </a:pPr>
            <a:r>
              <a:rPr lang="en-US" sz="8000">
                <a:solidFill>
                  <a:srgbClr val="004AAD"/>
                </a:solidFill>
                <a:latin typeface="Anton"/>
                <a:ea typeface="Anton"/>
                <a:cs typeface="Anton"/>
                <a:sym typeface="Anton"/>
              </a:rPr>
              <a:t>PROJECT INTRODUTION</a:t>
            </a:r>
          </a:p>
        </p:txBody>
      </p:sp>
      <p:sp>
        <p:nvSpPr>
          <p:cNvPr id="3" name="Freeform 3"/>
          <p:cNvSpPr/>
          <p:nvPr/>
        </p:nvSpPr>
        <p:spPr>
          <a:xfrm>
            <a:off x="16001383" y="172593"/>
            <a:ext cx="4573234" cy="9941813"/>
          </a:xfrm>
          <a:custGeom>
            <a:avLst/>
            <a:gdLst/>
            <a:ahLst/>
            <a:cxnLst/>
            <a:rect l="l" t="t" r="r" b="b"/>
            <a:pathLst>
              <a:path w="4573234" h="9941813">
                <a:moveTo>
                  <a:pt x="0" y="0"/>
                </a:moveTo>
                <a:lnTo>
                  <a:pt x="4573234" y="0"/>
                </a:lnTo>
                <a:lnTo>
                  <a:pt x="4573234" y="9941814"/>
                </a:lnTo>
                <a:lnTo>
                  <a:pt x="0" y="99418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604486" y="2721980"/>
            <a:ext cx="5830973" cy="6419850"/>
          </a:xfrm>
          <a:prstGeom prst="rect">
            <a:avLst/>
          </a:prstGeom>
        </p:spPr>
        <p:txBody>
          <a:bodyPr lIns="0" tIns="0" rIns="0" bIns="0" rtlCol="0" anchor="t">
            <a:spAutoFit/>
          </a:bodyPr>
          <a:lstStyle/>
          <a:p>
            <a:pPr algn="l">
              <a:lnSpc>
                <a:spcPts val="3449"/>
              </a:lnSpc>
            </a:pPr>
            <a:r>
              <a:rPr lang="en-US" sz="2499" b="1">
                <a:solidFill>
                  <a:srgbClr val="000000"/>
                </a:solidFill>
                <a:latin typeface="DM Sans Bold"/>
                <a:ea typeface="DM Sans Bold"/>
                <a:cs typeface="DM Sans Bold"/>
                <a:sym typeface="DM Sans Bold"/>
              </a:rPr>
              <a:t>Problem Statement:</a:t>
            </a:r>
          </a:p>
          <a:p>
            <a:pPr algn="l">
              <a:lnSpc>
                <a:spcPts val="3449"/>
              </a:lnSpc>
            </a:pPr>
            <a:r>
              <a:rPr lang="en-US" sz="2499">
                <a:solidFill>
                  <a:srgbClr val="000000"/>
                </a:solidFill>
                <a:latin typeface="DM Sans"/>
                <a:ea typeface="DM Sans"/>
                <a:cs typeface="DM Sans"/>
                <a:sym typeface="DM Sans"/>
              </a:rPr>
              <a:t>Repair shops face delays in diagnosing vehicle issues due to manual inspections, leading to inefficiencies, lost revenue, and reduced customer satisfaction. The lack of immediate insights into probable issues and repair estimates further impacts operations and competitiveness.</a:t>
            </a:r>
          </a:p>
          <a:p>
            <a:pPr algn="l">
              <a:lnSpc>
                <a:spcPts val="3449"/>
              </a:lnSpc>
            </a:pPr>
            <a:endParaRPr lang="en-US" sz="2499">
              <a:solidFill>
                <a:srgbClr val="000000"/>
              </a:solidFill>
              <a:latin typeface="DM Sans"/>
              <a:ea typeface="DM Sans"/>
              <a:cs typeface="DM Sans"/>
              <a:sym typeface="DM Sans"/>
            </a:endParaRPr>
          </a:p>
          <a:p>
            <a:pPr algn="l">
              <a:lnSpc>
                <a:spcPts val="3449"/>
              </a:lnSpc>
            </a:pPr>
            <a:r>
              <a:rPr lang="en-US" sz="2499" b="1">
                <a:solidFill>
                  <a:srgbClr val="000000"/>
                </a:solidFill>
                <a:latin typeface="DM Sans Bold"/>
                <a:ea typeface="DM Sans Bold"/>
                <a:cs typeface="DM Sans Bold"/>
                <a:sym typeface="DM Sans Bold"/>
              </a:rPr>
              <a:t>Goal</a:t>
            </a:r>
            <a:r>
              <a:rPr lang="en-US" sz="2499">
                <a:solidFill>
                  <a:srgbClr val="000000"/>
                </a:solidFill>
                <a:latin typeface="DM Sans"/>
                <a:ea typeface="DM Sans"/>
                <a:cs typeface="DM Sans"/>
                <a:sym typeface="DM Sans"/>
              </a:rPr>
              <a:t>:</a:t>
            </a:r>
          </a:p>
          <a:p>
            <a:pPr algn="l">
              <a:lnSpc>
                <a:spcPts val="3449"/>
              </a:lnSpc>
              <a:spcBef>
                <a:spcPct val="0"/>
              </a:spcBef>
            </a:pPr>
            <a:r>
              <a:rPr lang="en-US" sz="2499">
                <a:solidFill>
                  <a:srgbClr val="000000"/>
                </a:solidFill>
                <a:latin typeface="DM Sans"/>
                <a:ea typeface="DM Sans"/>
                <a:cs typeface="DM Sans"/>
                <a:sym typeface="DM Sans"/>
              </a:rPr>
              <a:t>Build a working prototype of an AI engine that predicts car issues and suggests repair recommendations based on historic data.</a:t>
            </a:r>
          </a:p>
        </p:txBody>
      </p:sp>
      <p:sp>
        <p:nvSpPr>
          <p:cNvPr id="5" name="TextBox 5"/>
          <p:cNvSpPr txBox="1"/>
          <p:nvPr/>
        </p:nvSpPr>
        <p:spPr>
          <a:xfrm>
            <a:off x="8672512" y="2721980"/>
            <a:ext cx="7545485" cy="6419850"/>
          </a:xfrm>
          <a:prstGeom prst="rect">
            <a:avLst/>
          </a:prstGeom>
        </p:spPr>
        <p:txBody>
          <a:bodyPr lIns="0" tIns="0" rIns="0" bIns="0" rtlCol="0" anchor="t">
            <a:spAutoFit/>
          </a:bodyPr>
          <a:lstStyle/>
          <a:p>
            <a:pPr algn="l">
              <a:lnSpc>
                <a:spcPts val="3449"/>
              </a:lnSpc>
            </a:pPr>
            <a:r>
              <a:rPr lang="en-US" sz="2499" b="1">
                <a:solidFill>
                  <a:srgbClr val="000000"/>
                </a:solidFill>
                <a:latin typeface="DM Sans Bold"/>
                <a:ea typeface="DM Sans Bold"/>
                <a:cs typeface="DM Sans Bold"/>
                <a:sym typeface="DM Sans Bold"/>
              </a:rPr>
              <a:t>Business Impact:</a:t>
            </a:r>
          </a:p>
          <a:p>
            <a:pPr marL="539749" lvl="1" indent="-269875" algn="l">
              <a:lnSpc>
                <a:spcPts val="3449"/>
              </a:lnSpc>
              <a:buFont typeface="Arial"/>
              <a:buChar char="•"/>
            </a:pPr>
            <a:r>
              <a:rPr lang="en-US" sz="2499">
                <a:solidFill>
                  <a:srgbClr val="000000"/>
                </a:solidFill>
                <a:latin typeface="DM Sans"/>
                <a:ea typeface="DM Sans"/>
                <a:cs typeface="DM Sans"/>
                <a:sym typeface="DM Sans"/>
              </a:rPr>
              <a:t>At least 85% prediction accuracy.</a:t>
            </a:r>
          </a:p>
          <a:p>
            <a:pPr marL="539749" lvl="1" indent="-269875" algn="l">
              <a:lnSpc>
                <a:spcPts val="3449"/>
              </a:lnSpc>
              <a:buFont typeface="Arial"/>
              <a:buChar char="•"/>
            </a:pPr>
            <a:r>
              <a:rPr lang="en-US" sz="2499">
                <a:solidFill>
                  <a:srgbClr val="000000"/>
                </a:solidFill>
                <a:latin typeface="DM Sans"/>
                <a:ea typeface="DM Sans"/>
                <a:cs typeface="DM Sans"/>
                <a:sym typeface="DM Sans"/>
              </a:rPr>
              <a:t>20% reduction in diagnostic time.</a:t>
            </a:r>
          </a:p>
          <a:p>
            <a:pPr marL="539749" lvl="1" indent="-269875" algn="l">
              <a:lnSpc>
                <a:spcPts val="3449"/>
              </a:lnSpc>
              <a:buFont typeface="Arial"/>
              <a:buChar char="•"/>
            </a:pPr>
            <a:r>
              <a:rPr lang="en-US" sz="2499">
                <a:solidFill>
                  <a:srgbClr val="000000"/>
                </a:solidFill>
                <a:latin typeface="DM Sans"/>
                <a:ea typeface="DM Sans"/>
                <a:cs typeface="DM Sans"/>
                <a:sym typeface="DM Sans"/>
              </a:rPr>
              <a:t>Better customer satisfaction and cost savings</a:t>
            </a:r>
          </a:p>
          <a:p>
            <a:pPr algn="l">
              <a:lnSpc>
                <a:spcPts val="3449"/>
              </a:lnSpc>
            </a:pPr>
            <a:endParaRPr lang="en-US" sz="2499">
              <a:solidFill>
                <a:srgbClr val="000000"/>
              </a:solidFill>
              <a:latin typeface="DM Sans"/>
              <a:ea typeface="DM Sans"/>
              <a:cs typeface="DM Sans"/>
              <a:sym typeface="DM Sans"/>
            </a:endParaRPr>
          </a:p>
          <a:p>
            <a:pPr algn="l">
              <a:lnSpc>
                <a:spcPts val="3449"/>
              </a:lnSpc>
            </a:pPr>
            <a:r>
              <a:rPr lang="en-US" sz="2499" b="1">
                <a:solidFill>
                  <a:srgbClr val="000000"/>
                </a:solidFill>
                <a:latin typeface="DM Sans Bold"/>
                <a:ea typeface="DM Sans Bold"/>
                <a:cs typeface="DM Sans Bold"/>
                <a:sym typeface="DM Sans Bold"/>
              </a:rPr>
              <a:t>Patent #9111264 Focus:</a:t>
            </a:r>
          </a:p>
          <a:p>
            <a:pPr algn="l">
              <a:lnSpc>
                <a:spcPts val="3449"/>
              </a:lnSpc>
            </a:pPr>
            <a:r>
              <a:rPr lang="en-US" sz="2499">
                <a:solidFill>
                  <a:srgbClr val="000000"/>
                </a:solidFill>
                <a:latin typeface="DM Sans"/>
                <a:ea typeface="DM Sans"/>
                <a:cs typeface="DM Sans"/>
                <a:sym typeface="DM Sans"/>
              </a:rPr>
              <a:t>Uses historical repair data to predict issues by linking symptoms, diagnostics, and successful repairs.</a:t>
            </a:r>
          </a:p>
          <a:p>
            <a:pPr algn="l">
              <a:lnSpc>
                <a:spcPts val="3449"/>
              </a:lnSpc>
            </a:pPr>
            <a:endParaRPr lang="en-US" sz="2499">
              <a:solidFill>
                <a:srgbClr val="000000"/>
              </a:solidFill>
              <a:latin typeface="DM Sans"/>
              <a:ea typeface="DM Sans"/>
              <a:cs typeface="DM Sans"/>
              <a:sym typeface="DM Sans"/>
            </a:endParaRPr>
          </a:p>
          <a:p>
            <a:pPr algn="l">
              <a:lnSpc>
                <a:spcPts val="3449"/>
              </a:lnSpc>
            </a:pPr>
            <a:r>
              <a:rPr lang="en-US" sz="2499" b="1">
                <a:solidFill>
                  <a:srgbClr val="000000"/>
                </a:solidFill>
                <a:latin typeface="DM Sans Bold"/>
                <a:ea typeface="DM Sans Bold"/>
                <a:cs typeface="DM Sans Bold"/>
                <a:sym typeface="DM Sans Bold"/>
              </a:rPr>
              <a:t>Why It Matters:</a:t>
            </a:r>
          </a:p>
          <a:p>
            <a:pPr marL="539749" lvl="1" indent="-269875" algn="l">
              <a:lnSpc>
                <a:spcPts val="3449"/>
              </a:lnSpc>
              <a:buFont typeface="Arial"/>
              <a:buChar char="•"/>
            </a:pPr>
            <a:r>
              <a:rPr lang="en-US" sz="2499">
                <a:solidFill>
                  <a:srgbClr val="000000"/>
                </a:solidFill>
                <a:latin typeface="DM Sans"/>
                <a:ea typeface="DM Sans"/>
                <a:cs typeface="DM Sans"/>
                <a:sym typeface="DM Sans"/>
              </a:rPr>
              <a:t>Helps repair shops diagnose problems faster and more accurately.</a:t>
            </a:r>
          </a:p>
          <a:p>
            <a:pPr marL="539749" lvl="1" indent="-269875" algn="l">
              <a:lnSpc>
                <a:spcPts val="3449"/>
              </a:lnSpc>
              <a:spcBef>
                <a:spcPct val="0"/>
              </a:spcBef>
              <a:buFont typeface="Arial"/>
              <a:buChar char="•"/>
            </a:pPr>
            <a:r>
              <a:rPr lang="en-US" sz="2499">
                <a:solidFill>
                  <a:srgbClr val="000000"/>
                </a:solidFill>
                <a:latin typeface="DM Sans"/>
                <a:ea typeface="DM Sans"/>
                <a:cs typeface="DM Sans"/>
                <a:sym typeface="DM Sans"/>
              </a:rPr>
              <a:t>Reduces diagnostic time and unnecessary repair costs.</a:t>
            </a:r>
          </a:p>
        </p:txBody>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38225"/>
            <a:ext cx="16230600" cy="1200785"/>
          </a:xfrm>
          <a:prstGeom prst="rect">
            <a:avLst/>
          </a:prstGeom>
        </p:spPr>
        <p:txBody>
          <a:bodyPr lIns="0" tIns="0" rIns="0" bIns="0" rtlCol="0" anchor="t">
            <a:spAutoFit/>
          </a:bodyPr>
          <a:lstStyle/>
          <a:p>
            <a:pPr algn="ctr">
              <a:lnSpc>
                <a:spcPts val="9520"/>
              </a:lnSpc>
            </a:pPr>
            <a:r>
              <a:rPr lang="en-US" sz="8000">
                <a:solidFill>
                  <a:srgbClr val="004AAD"/>
                </a:solidFill>
                <a:latin typeface="Anton"/>
                <a:ea typeface="Anton"/>
                <a:cs typeface="Anton"/>
                <a:sym typeface="Anton"/>
              </a:rPr>
              <a:t>DATA OVERVIEW</a:t>
            </a:r>
          </a:p>
        </p:txBody>
      </p:sp>
      <p:sp>
        <p:nvSpPr>
          <p:cNvPr id="3" name="TextBox 3"/>
          <p:cNvSpPr txBox="1"/>
          <p:nvPr/>
        </p:nvSpPr>
        <p:spPr>
          <a:xfrm>
            <a:off x="3378135" y="2751819"/>
            <a:ext cx="5765865" cy="5562600"/>
          </a:xfrm>
          <a:prstGeom prst="rect">
            <a:avLst/>
          </a:prstGeom>
        </p:spPr>
        <p:txBody>
          <a:bodyPr lIns="0" tIns="0" rIns="0" bIns="0" rtlCol="0" anchor="t">
            <a:spAutoFit/>
          </a:bodyPr>
          <a:lstStyle/>
          <a:p>
            <a:pPr algn="l">
              <a:lnSpc>
                <a:spcPts val="3449"/>
              </a:lnSpc>
            </a:pPr>
            <a:r>
              <a:rPr lang="en-US" sz="2499" b="1">
                <a:solidFill>
                  <a:srgbClr val="000000"/>
                </a:solidFill>
                <a:latin typeface="DM Sans Bold"/>
                <a:ea typeface="DM Sans Bold"/>
                <a:cs typeface="DM Sans Bold"/>
                <a:sym typeface="DM Sans Bold"/>
              </a:rPr>
              <a:t>Data provided by sponsor:</a:t>
            </a:r>
          </a:p>
          <a:p>
            <a:pPr marL="539749" lvl="1" indent="-269875" algn="l">
              <a:lnSpc>
                <a:spcPts val="3449"/>
              </a:lnSpc>
              <a:buFont typeface="Arial"/>
              <a:buChar char="•"/>
            </a:pPr>
            <a:r>
              <a:rPr lang="en-US" sz="2499">
                <a:solidFill>
                  <a:srgbClr val="000000"/>
                </a:solidFill>
                <a:latin typeface="DM Sans"/>
                <a:ea typeface="DM Sans"/>
                <a:cs typeface="DM Sans"/>
                <a:sym typeface="DM Sans"/>
              </a:rPr>
              <a:t>6184 Invoice PFD files</a:t>
            </a:r>
          </a:p>
          <a:p>
            <a:pPr algn="l">
              <a:lnSpc>
                <a:spcPts val="3449"/>
              </a:lnSpc>
            </a:pPr>
            <a:endParaRPr lang="en-US" sz="2499">
              <a:solidFill>
                <a:srgbClr val="000000"/>
              </a:solidFill>
              <a:latin typeface="DM Sans"/>
              <a:ea typeface="DM Sans"/>
              <a:cs typeface="DM Sans"/>
              <a:sym typeface="DM Sans"/>
            </a:endParaRPr>
          </a:p>
          <a:p>
            <a:pPr algn="l">
              <a:lnSpc>
                <a:spcPts val="3449"/>
              </a:lnSpc>
            </a:pPr>
            <a:r>
              <a:rPr lang="en-US" sz="2499" b="1">
                <a:solidFill>
                  <a:srgbClr val="000000"/>
                </a:solidFill>
                <a:latin typeface="DM Sans Bold"/>
                <a:ea typeface="DM Sans Bold"/>
                <a:cs typeface="DM Sans Bold"/>
                <a:sym typeface="DM Sans Bold"/>
              </a:rPr>
              <a:t>Key fields in PDFs:</a:t>
            </a:r>
          </a:p>
          <a:p>
            <a:pPr marL="539749" lvl="1" indent="-269875" algn="l">
              <a:lnSpc>
                <a:spcPts val="3449"/>
              </a:lnSpc>
              <a:buFont typeface="Arial"/>
              <a:buChar char="•"/>
            </a:pPr>
            <a:r>
              <a:rPr lang="en-US" sz="2499">
                <a:solidFill>
                  <a:srgbClr val="000000"/>
                </a:solidFill>
                <a:latin typeface="DM Sans"/>
                <a:ea typeface="DM Sans"/>
                <a:cs typeface="DM Sans"/>
                <a:sym typeface="DM Sans"/>
              </a:rPr>
              <a:t>Inovice Number</a:t>
            </a:r>
          </a:p>
          <a:p>
            <a:pPr marL="539749" lvl="1" indent="-269875" algn="l">
              <a:lnSpc>
                <a:spcPts val="3449"/>
              </a:lnSpc>
              <a:buFont typeface="Arial"/>
              <a:buChar char="•"/>
            </a:pPr>
            <a:r>
              <a:rPr lang="en-US" sz="2499">
                <a:solidFill>
                  <a:srgbClr val="000000"/>
                </a:solidFill>
                <a:latin typeface="DM Sans"/>
                <a:ea typeface="DM Sans"/>
                <a:cs typeface="DM Sans"/>
                <a:sym typeface="DM Sans"/>
              </a:rPr>
              <a:t>Vehicle Information</a:t>
            </a:r>
          </a:p>
          <a:p>
            <a:pPr marL="539749" lvl="1" indent="-269875" algn="l">
              <a:lnSpc>
                <a:spcPts val="3449"/>
              </a:lnSpc>
              <a:buFont typeface="Arial"/>
              <a:buChar char="•"/>
            </a:pPr>
            <a:r>
              <a:rPr lang="en-US" sz="2499">
                <a:solidFill>
                  <a:srgbClr val="000000"/>
                </a:solidFill>
                <a:latin typeface="DM Sans"/>
                <a:ea typeface="DM Sans"/>
                <a:cs typeface="DM Sans"/>
                <a:sym typeface="DM Sans"/>
              </a:rPr>
              <a:t>Customer Concerns &amp; Finding</a:t>
            </a:r>
          </a:p>
          <a:p>
            <a:pPr marL="539749" lvl="1" indent="-269875" algn="l">
              <a:lnSpc>
                <a:spcPts val="3449"/>
              </a:lnSpc>
              <a:buFont typeface="Arial"/>
              <a:buChar char="•"/>
            </a:pPr>
            <a:r>
              <a:rPr lang="en-US" sz="2499">
                <a:solidFill>
                  <a:srgbClr val="000000"/>
                </a:solidFill>
                <a:latin typeface="DM Sans"/>
                <a:ea typeface="DM Sans"/>
                <a:cs typeface="DM Sans"/>
                <a:sym typeface="DM Sans"/>
              </a:rPr>
              <a:t>Technician Concerns &amp; Finding</a:t>
            </a:r>
          </a:p>
          <a:p>
            <a:pPr marL="539749" lvl="1" indent="-269875" algn="l">
              <a:lnSpc>
                <a:spcPts val="3449"/>
              </a:lnSpc>
              <a:buFont typeface="Arial"/>
              <a:buChar char="•"/>
            </a:pPr>
            <a:r>
              <a:rPr lang="en-US" sz="2499">
                <a:solidFill>
                  <a:srgbClr val="000000"/>
                </a:solidFill>
                <a:latin typeface="DM Sans"/>
                <a:ea typeface="DM Sans"/>
                <a:cs typeface="DM Sans"/>
                <a:sym typeface="DM Sans"/>
              </a:rPr>
              <a:t>Jobs:</a:t>
            </a:r>
          </a:p>
          <a:p>
            <a:pPr marL="1079499" lvl="2" indent="-359833" algn="l">
              <a:lnSpc>
                <a:spcPts val="3449"/>
              </a:lnSpc>
              <a:buFont typeface="Arial"/>
              <a:buChar char="⚬"/>
            </a:pPr>
            <a:r>
              <a:rPr lang="en-US" sz="2499">
                <a:solidFill>
                  <a:srgbClr val="000000"/>
                </a:solidFill>
                <a:latin typeface="DM Sans"/>
                <a:ea typeface="DM Sans"/>
                <a:cs typeface="DM Sans"/>
                <a:sym typeface="DM Sans"/>
              </a:rPr>
              <a:t>Labor</a:t>
            </a:r>
          </a:p>
          <a:p>
            <a:pPr marL="1079499" lvl="2" indent="-359833" algn="l">
              <a:lnSpc>
                <a:spcPts val="3449"/>
              </a:lnSpc>
              <a:buFont typeface="Arial"/>
              <a:buChar char="⚬"/>
            </a:pPr>
            <a:r>
              <a:rPr lang="en-US" sz="2499">
                <a:solidFill>
                  <a:srgbClr val="000000"/>
                </a:solidFill>
                <a:latin typeface="DM Sans"/>
                <a:ea typeface="DM Sans"/>
                <a:cs typeface="DM Sans"/>
                <a:sym typeface="DM Sans"/>
              </a:rPr>
              <a:t>Parts</a:t>
            </a:r>
          </a:p>
          <a:p>
            <a:pPr marL="1079499" lvl="2" indent="-359833" algn="l">
              <a:lnSpc>
                <a:spcPts val="3449"/>
              </a:lnSpc>
              <a:buFont typeface="Arial"/>
              <a:buChar char="⚬"/>
            </a:pPr>
            <a:r>
              <a:rPr lang="en-US" sz="2499">
                <a:solidFill>
                  <a:srgbClr val="000000"/>
                </a:solidFill>
                <a:latin typeface="DM Sans"/>
                <a:ea typeface="DM Sans"/>
                <a:cs typeface="DM Sans"/>
                <a:sym typeface="DM Sans"/>
              </a:rPr>
              <a:t>Cost breakdown</a:t>
            </a:r>
          </a:p>
          <a:p>
            <a:pPr marL="539749" lvl="1" indent="-269875" algn="l">
              <a:lnSpc>
                <a:spcPts val="3449"/>
              </a:lnSpc>
              <a:buFont typeface="Arial"/>
              <a:buChar char="•"/>
            </a:pPr>
            <a:r>
              <a:rPr lang="en-US" sz="2499">
                <a:solidFill>
                  <a:srgbClr val="000000"/>
                </a:solidFill>
                <a:latin typeface="DM Sans"/>
                <a:ea typeface="DM Sans"/>
                <a:cs typeface="DM Sans"/>
                <a:sym typeface="DM Sans"/>
              </a:rPr>
              <a:t>Total cost breakdown </a:t>
            </a:r>
          </a:p>
        </p:txBody>
      </p:sp>
      <p:sp>
        <p:nvSpPr>
          <p:cNvPr id="4" name="Freeform 4"/>
          <p:cNvSpPr/>
          <p:nvPr/>
        </p:nvSpPr>
        <p:spPr>
          <a:xfrm>
            <a:off x="9144000" y="2369226"/>
            <a:ext cx="6792085" cy="7102834"/>
          </a:xfrm>
          <a:custGeom>
            <a:avLst/>
            <a:gdLst/>
            <a:ahLst/>
            <a:cxnLst/>
            <a:rect l="l" t="t" r="r" b="b"/>
            <a:pathLst>
              <a:path w="6792085" h="7102834">
                <a:moveTo>
                  <a:pt x="0" y="0"/>
                </a:moveTo>
                <a:lnTo>
                  <a:pt x="6792085" y="0"/>
                </a:lnTo>
                <a:lnTo>
                  <a:pt x="6792085" y="7102834"/>
                </a:lnTo>
                <a:lnTo>
                  <a:pt x="0" y="7102834"/>
                </a:lnTo>
                <a:lnTo>
                  <a:pt x="0" y="0"/>
                </a:lnTo>
                <a:close/>
              </a:path>
            </a:pathLst>
          </a:custGeom>
          <a:blipFill>
            <a:blip r:embed="rId2"/>
            <a:stretch>
              <a:fillRect/>
            </a:stretch>
          </a:blipFill>
          <a:ln w="38100" cap="rnd">
            <a:solidFill>
              <a:srgbClr val="000000"/>
            </a:solidFill>
            <a:prstDash val="solid"/>
            <a:round/>
          </a:ln>
        </p:spPr>
        <p:txBody>
          <a:bodyPr/>
          <a:lstStyle/>
          <a:p>
            <a:endParaRPr lang="en-US"/>
          </a:p>
        </p:txBody>
      </p:sp>
      <p:sp>
        <p:nvSpPr>
          <p:cNvPr id="5" name="Freeform 5"/>
          <p:cNvSpPr/>
          <p:nvPr/>
        </p:nvSpPr>
        <p:spPr>
          <a:xfrm>
            <a:off x="-2330915" y="333381"/>
            <a:ext cx="6352098" cy="1905629"/>
          </a:xfrm>
          <a:custGeom>
            <a:avLst/>
            <a:gdLst/>
            <a:ahLst/>
            <a:cxnLst/>
            <a:rect l="l" t="t" r="r" b="b"/>
            <a:pathLst>
              <a:path w="6352098" h="1905629">
                <a:moveTo>
                  <a:pt x="0" y="0"/>
                </a:moveTo>
                <a:lnTo>
                  <a:pt x="6352098" y="0"/>
                </a:lnTo>
                <a:lnTo>
                  <a:pt x="6352098" y="1905629"/>
                </a:lnTo>
                <a:lnTo>
                  <a:pt x="0" y="190562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4482573" y="333381"/>
            <a:ext cx="6352098" cy="1905629"/>
          </a:xfrm>
          <a:custGeom>
            <a:avLst/>
            <a:gdLst/>
            <a:ahLst/>
            <a:cxnLst/>
            <a:rect l="l" t="t" r="r" b="b"/>
            <a:pathLst>
              <a:path w="6352098" h="1905629">
                <a:moveTo>
                  <a:pt x="0" y="0"/>
                </a:moveTo>
                <a:lnTo>
                  <a:pt x="6352098" y="0"/>
                </a:lnTo>
                <a:lnTo>
                  <a:pt x="6352098" y="1905629"/>
                </a:lnTo>
                <a:lnTo>
                  <a:pt x="0" y="190562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214127" y="2776133"/>
            <a:ext cx="4161751" cy="1184729"/>
            <a:chOff x="0" y="0"/>
            <a:chExt cx="2565722" cy="730386"/>
          </a:xfrm>
        </p:grpSpPr>
        <p:sp>
          <p:nvSpPr>
            <p:cNvPr id="3" name="Freeform 3"/>
            <p:cNvSpPr/>
            <p:nvPr/>
          </p:nvSpPr>
          <p:spPr>
            <a:xfrm>
              <a:off x="0" y="0"/>
              <a:ext cx="2565722" cy="730386"/>
            </a:xfrm>
            <a:custGeom>
              <a:avLst/>
              <a:gdLst/>
              <a:ahLst/>
              <a:cxnLst/>
              <a:rect l="l" t="t" r="r" b="b"/>
              <a:pathLst>
                <a:path w="2565722" h="730386">
                  <a:moveTo>
                    <a:pt x="0" y="0"/>
                  </a:moveTo>
                  <a:lnTo>
                    <a:pt x="2362522" y="0"/>
                  </a:lnTo>
                  <a:lnTo>
                    <a:pt x="2565722" y="365193"/>
                  </a:lnTo>
                  <a:lnTo>
                    <a:pt x="2362522" y="730386"/>
                  </a:lnTo>
                  <a:lnTo>
                    <a:pt x="0" y="730386"/>
                  </a:lnTo>
                  <a:lnTo>
                    <a:pt x="203200" y="365193"/>
                  </a:lnTo>
                  <a:lnTo>
                    <a:pt x="0" y="0"/>
                  </a:lnTo>
                  <a:close/>
                </a:path>
              </a:pathLst>
            </a:custGeom>
            <a:solidFill>
              <a:srgbClr val="15345E"/>
            </a:solidFill>
          </p:spPr>
          <p:txBody>
            <a:bodyPr/>
            <a:lstStyle/>
            <a:p>
              <a:endParaRPr lang="en-US"/>
            </a:p>
          </p:txBody>
        </p:sp>
        <p:sp>
          <p:nvSpPr>
            <p:cNvPr id="4" name="TextBox 4"/>
            <p:cNvSpPr txBox="1"/>
            <p:nvPr/>
          </p:nvSpPr>
          <p:spPr>
            <a:xfrm>
              <a:off x="177800" y="-38100"/>
              <a:ext cx="2311722" cy="768486"/>
            </a:xfrm>
            <a:prstGeom prst="rect">
              <a:avLst/>
            </a:prstGeom>
          </p:spPr>
          <p:txBody>
            <a:bodyPr lIns="50800" tIns="50800" rIns="50800" bIns="50800" rtlCol="0" anchor="ctr"/>
            <a:lstStyle/>
            <a:p>
              <a:pPr algn="ctr">
                <a:lnSpc>
                  <a:spcPts val="2605"/>
                </a:lnSpc>
              </a:pPr>
              <a:endParaRPr/>
            </a:p>
          </p:txBody>
        </p:sp>
      </p:grpSp>
      <p:grpSp>
        <p:nvGrpSpPr>
          <p:cNvPr id="5" name="Group 5"/>
          <p:cNvGrpSpPr/>
          <p:nvPr/>
        </p:nvGrpSpPr>
        <p:grpSpPr>
          <a:xfrm rot="-10800000">
            <a:off x="6247715" y="3960862"/>
            <a:ext cx="4161751" cy="1184729"/>
            <a:chOff x="0" y="0"/>
            <a:chExt cx="2565722" cy="730386"/>
          </a:xfrm>
        </p:grpSpPr>
        <p:sp>
          <p:nvSpPr>
            <p:cNvPr id="6" name="Freeform 6"/>
            <p:cNvSpPr/>
            <p:nvPr/>
          </p:nvSpPr>
          <p:spPr>
            <a:xfrm>
              <a:off x="0" y="0"/>
              <a:ext cx="2565722" cy="730386"/>
            </a:xfrm>
            <a:custGeom>
              <a:avLst/>
              <a:gdLst/>
              <a:ahLst/>
              <a:cxnLst/>
              <a:rect l="l" t="t" r="r" b="b"/>
              <a:pathLst>
                <a:path w="2565722" h="730386">
                  <a:moveTo>
                    <a:pt x="0" y="0"/>
                  </a:moveTo>
                  <a:lnTo>
                    <a:pt x="2362522" y="0"/>
                  </a:lnTo>
                  <a:lnTo>
                    <a:pt x="2565722" y="365193"/>
                  </a:lnTo>
                  <a:lnTo>
                    <a:pt x="2362522" y="730386"/>
                  </a:lnTo>
                  <a:lnTo>
                    <a:pt x="0" y="730386"/>
                  </a:lnTo>
                  <a:lnTo>
                    <a:pt x="203200" y="365193"/>
                  </a:lnTo>
                  <a:lnTo>
                    <a:pt x="0" y="0"/>
                  </a:lnTo>
                  <a:close/>
                </a:path>
              </a:pathLst>
            </a:custGeom>
            <a:solidFill>
              <a:srgbClr val="0071C9"/>
            </a:solidFill>
          </p:spPr>
          <p:txBody>
            <a:bodyPr/>
            <a:lstStyle/>
            <a:p>
              <a:endParaRPr lang="en-US"/>
            </a:p>
          </p:txBody>
        </p:sp>
        <p:sp>
          <p:nvSpPr>
            <p:cNvPr id="7" name="TextBox 7"/>
            <p:cNvSpPr txBox="1"/>
            <p:nvPr/>
          </p:nvSpPr>
          <p:spPr>
            <a:xfrm>
              <a:off x="177800" y="-38100"/>
              <a:ext cx="2311722" cy="768486"/>
            </a:xfrm>
            <a:prstGeom prst="rect">
              <a:avLst/>
            </a:prstGeom>
          </p:spPr>
          <p:txBody>
            <a:bodyPr lIns="50800" tIns="50800" rIns="50800" bIns="50800" rtlCol="0" anchor="ctr"/>
            <a:lstStyle/>
            <a:p>
              <a:pPr algn="ctr">
                <a:lnSpc>
                  <a:spcPts val="2605"/>
                </a:lnSpc>
              </a:pPr>
              <a:endParaRPr/>
            </a:p>
          </p:txBody>
        </p:sp>
      </p:grpSp>
      <p:grpSp>
        <p:nvGrpSpPr>
          <p:cNvPr id="8" name="Group 8"/>
          <p:cNvGrpSpPr/>
          <p:nvPr/>
        </p:nvGrpSpPr>
        <p:grpSpPr>
          <a:xfrm>
            <a:off x="7878534" y="5145590"/>
            <a:ext cx="4161751" cy="1184729"/>
            <a:chOff x="0" y="0"/>
            <a:chExt cx="2565722" cy="730386"/>
          </a:xfrm>
        </p:grpSpPr>
        <p:sp>
          <p:nvSpPr>
            <p:cNvPr id="9" name="Freeform 9"/>
            <p:cNvSpPr/>
            <p:nvPr/>
          </p:nvSpPr>
          <p:spPr>
            <a:xfrm>
              <a:off x="0" y="0"/>
              <a:ext cx="2565722" cy="730386"/>
            </a:xfrm>
            <a:custGeom>
              <a:avLst/>
              <a:gdLst/>
              <a:ahLst/>
              <a:cxnLst/>
              <a:rect l="l" t="t" r="r" b="b"/>
              <a:pathLst>
                <a:path w="2565722" h="730386">
                  <a:moveTo>
                    <a:pt x="0" y="0"/>
                  </a:moveTo>
                  <a:lnTo>
                    <a:pt x="2362522" y="0"/>
                  </a:lnTo>
                  <a:lnTo>
                    <a:pt x="2565722" y="365193"/>
                  </a:lnTo>
                  <a:lnTo>
                    <a:pt x="2362522" y="730386"/>
                  </a:lnTo>
                  <a:lnTo>
                    <a:pt x="0" y="730386"/>
                  </a:lnTo>
                  <a:lnTo>
                    <a:pt x="203200" y="365193"/>
                  </a:lnTo>
                  <a:lnTo>
                    <a:pt x="0" y="0"/>
                  </a:lnTo>
                  <a:close/>
                </a:path>
              </a:pathLst>
            </a:custGeom>
            <a:solidFill>
              <a:srgbClr val="56AEFF"/>
            </a:solidFill>
          </p:spPr>
          <p:txBody>
            <a:bodyPr/>
            <a:lstStyle/>
            <a:p>
              <a:endParaRPr lang="en-US"/>
            </a:p>
          </p:txBody>
        </p:sp>
        <p:sp>
          <p:nvSpPr>
            <p:cNvPr id="10" name="TextBox 10"/>
            <p:cNvSpPr txBox="1"/>
            <p:nvPr/>
          </p:nvSpPr>
          <p:spPr>
            <a:xfrm>
              <a:off x="177800" y="-38100"/>
              <a:ext cx="2311722" cy="768486"/>
            </a:xfrm>
            <a:prstGeom prst="rect">
              <a:avLst/>
            </a:prstGeom>
          </p:spPr>
          <p:txBody>
            <a:bodyPr lIns="50800" tIns="50800" rIns="50800" bIns="50800" rtlCol="0" anchor="ctr"/>
            <a:lstStyle/>
            <a:p>
              <a:pPr algn="ctr">
                <a:lnSpc>
                  <a:spcPts val="2605"/>
                </a:lnSpc>
              </a:pPr>
              <a:endParaRPr/>
            </a:p>
          </p:txBody>
        </p:sp>
      </p:grpSp>
      <p:grpSp>
        <p:nvGrpSpPr>
          <p:cNvPr id="11" name="Group 11"/>
          <p:cNvGrpSpPr/>
          <p:nvPr/>
        </p:nvGrpSpPr>
        <p:grpSpPr>
          <a:xfrm rot="-10800000">
            <a:off x="6912122" y="6330319"/>
            <a:ext cx="4161751" cy="1184729"/>
            <a:chOff x="0" y="0"/>
            <a:chExt cx="2565722" cy="730386"/>
          </a:xfrm>
        </p:grpSpPr>
        <p:sp>
          <p:nvSpPr>
            <p:cNvPr id="12" name="Freeform 12"/>
            <p:cNvSpPr/>
            <p:nvPr/>
          </p:nvSpPr>
          <p:spPr>
            <a:xfrm>
              <a:off x="0" y="0"/>
              <a:ext cx="2565722" cy="730386"/>
            </a:xfrm>
            <a:custGeom>
              <a:avLst/>
              <a:gdLst/>
              <a:ahLst/>
              <a:cxnLst/>
              <a:rect l="l" t="t" r="r" b="b"/>
              <a:pathLst>
                <a:path w="2565722" h="730386">
                  <a:moveTo>
                    <a:pt x="0" y="0"/>
                  </a:moveTo>
                  <a:lnTo>
                    <a:pt x="2362522" y="0"/>
                  </a:lnTo>
                  <a:lnTo>
                    <a:pt x="2565722" y="365193"/>
                  </a:lnTo>
                  <a:lnTo>
                    <a:pt x="2362522" y="730386"/>
                  </a:lnTo>
                  <a:lnTo>
                    <a:pt x="0" y="730386"/>
                  </a:lnTo>
                  <a:lnTo>
                    <a:pt x="203200" y="365193"/>
                  </a:lnTo>
                  <a:lnTo>
                    <a:pt x="0" y="0"/>
                  </a:lnTo>
                  <a:close/>
                </a:path>
              </a:pathLst>
            </a:custGeom>
            <a:solidFill>
              <a:srgbClr val="4BD1FB"/>
            </a:solidFill>
          </p:spPr>
          <p:txBody>
            <a:bodyPr/>
            <a:lstStyle/>
            <a:p>
              <a:endParaRPr lang="en-US"/>
            </a:p>
          </p:txBody>
        </p:sp>
        <p:sp>
          <p:nvSpPr>
            <p:cNvPr id="13" name="TextBox 13"/>
            <p:cNvSpPr txBox="1"/>
            <p:nvPr/>
          </p:nvSpPr>
          <p:spPr>
            <a:xfrm>
              <a:off x="177800" y="-38100"/>
              <a:ext cx="2311722" cy="768486"/>
            </a:xfrm>
            <a:prstGeom prst="rect">
              <a:avLst/>
            </a:prstGeom>
          </p:spPr>
          <p:txBody>
            <a:bodyPr lIns="50800" tIns="50800" rIns="50800" bIns="50800" rtlCol="0" anchor="ctr"/>
            <a:lstStyle/>
            <a:p>
              <a:pPr algn="ctr">
                <a:lnSpc>
                  <a:spcPts val="2605"/>
                </a:lnSpc>
              </a:pPr>
              <a:endParaRPr/>
            </a:p>
          </p:txBody>
        </p:sp>
      </p:grpSp>
      <p:grpSp>
        <p:nvGrpSpPr>
          <p:cNvPr id="14" name="Group 14"/>
          <p:cNvGrpSpPr/>
          <p:nvPr/>
        </p:nvGrpSpPr>
        <p:grpSpPr>
          <a:xfrm>
            <a:off x="7878534" y="7510867"/>
            <a:ext cx="4161751" cy="1184729"/>
            <a:chOff x="0" y="0"/>
            <a:chExt cx="2565722" cy="730386"/>
          </a:xfrm>
        </p:grpSpPr>
        <p:sp>
          <p:nvSpPr>
            <p:cNvPr id="15" name="Freeform 15"/>
            <p:cNvSpPr/>
            <p:nvPr/>
          </p:nvSpPr>
          <p:spPr>
            <a:xfrm>
              <a:off x="0" y="0"/>
              <a:ext cx="2565722" cy="730386"/>
            </a:xfrm>
            <a:custGeom>
              <a:avLst/>
              <a:gdLst/>
              <a:ahLst/>
              <a:cxnLst/>
              <a:rect l="l" t="t" r="r" b="b"/>
              <a:pathLst>
                <a:path w="2565722" h="730386">
                  <a:moveTo>
                    <a:pt x="0" y="0"/>
                  </a:moveTo>
                  <a:lnTo>
                    <a:pt x="2362522" y="0"/>
                  </a:lnTo>
                  <a:lnTo>
                    <a:pt x="2565722" y="365193"/>
                  </a:lnTo>
                  <a:lnTo>
                    <a:pt x="2362522" y="730386"/>
                  </a:lnTo>
                  <a:lnTo>
                    <a:pt x="0" y="730386"/>
                  </a:lnTo>
                  <a:lnTo>
                    <a:pt x="203200" y="365193"/>
                  </a:lnTo>
                  <a:lnTo>
                    <a:pt x="0" y="0"/>
                  </a:lnTo>
                  <a:close/>
                </a:path>
              </a:pathLst>
            </a:custGeom>
            <a:solidFill>
              <a:srgbClr val="CFF4FF"/>
            </a:solidFill>
          </p:spPr>
          <p:txBody>
            <a:bodyPr/>
            <a:lstStyle/>
            <a:p>
              <a:endParaRPr lang="en-US"/>
            </a:p>
          </p:txBody>
        </p:sp>
        <p:sp>
          <p:nvSpPr>
            <p:cNvPr id="16" name="TextBox 16"/>
            <p:cNvSpPr txBox="1"/>
            <p:nvPr/>
          </p:nvSpPr>
          <p:spPr>
            <a:xfrm>
              <a:off x="177800" y="-38100"/>
              <a:ext cx="2311722" cy="768486"/>
            </a:xfrm>
            <a:prstGeom prst="rect">
              <a:avLst/>
            </a:prstGeom>
          </p:spPr>
          <p:txBody>
            <a:bodyPr lIns="50800" tIns="50800" rIns="50800" bIns="50800" rtlCol="0" anchor="ctr"/>
            <a:lstStyle/>
            <a:p>
              <a:pPr algn="ctr">
                <a:lnSpc>
                  <a:spcPts val="2605"/>
                </a:lnSpc>
              </a:pPr>
              <a:endParaRPr/>
            </a:p>
          </p:txBody>
        </p:sp>
      </p:grpSp>
      <p:sp>
        <p:nvSpPr>
          <p:cNvPr id="17" name="TextBox 17"/>
          <p:cNvSpPr txBox="1"/>
          <p:nvPr/>
        </p:nvSpPr>
        <p:spPr>
          <a:xfrm>
            <a:off x="6955950" y="4268429"/>
            <a:ext cx="2745282" cy="512445"/>
          </a:xfrm>
          <a:prstGeom prst="rect">
            <a:avLst/>
          </a:prstGeom>
        </p:spPr>
        <p:txBody>
          <a:bodyPr lIns="0" tIns="0" rIns="0" bIns="0" rtlCol="0" anchor="t">
            <a:spAutoFit/>
          </a:bodyPr>
          <a:lstStyle/>
          <a:p>
            <a:pPr marL="0" lvl="0" indent="0" algn="ctr">
              <a:lnSpc>
                <a:spcPts val="4140"/>
              </a:lnSpc>
              <a:spcBef>
                <a:spcPct val="0"/>
              </a:spcBef>
            </a:pPr>
            <a:r>
              <a:rPr lang="en-US" sz="3000" b="1">
                <a:solidFill>
                  <a:srgbClr val="FFFFFF"/>
                </a:solidFill>
                <a:latin typeface="DM Sans Bold"/>
                <a:ea typeface="DM Sans Bold"/>
                <a:cs typeface="DM Sans Bold"/>
                <a:sym typeface="DM Sans Bold"/>
              </a:rPr>
              <a:t>Data Cleaning</a:t>
            </a:r>
          </a:p>
        </p:txBody>
      </p:sp>
      <p:sp>
        <p:nvSpPr>
          <p:cNvPr id="18" name="TextBox 18"/>
          <p:cNvSpPr txBox="1"/>
          <p:nvPr/>
        </p:nvSpPr>
        <p:spPr>
          <a:xfrm>
            <a:off x="7878534" y="3073311"/>
            <a:ext cx="2984011" cy="512445"/>
          </a:xfrm>
          <a:prstGeom prst="rect">
            <a:avLst/>
          </a:prstGeom>
        </p:spPr>
        <p:txBody>
          <a:bodyPr lIns="0" tIns="0" rIns="0" bIns="0" rtlCol="0" anchor="t">
            <a:spAutoFit/>
          </a:bodyPr>
          <a:lstStyle/>
          <a:p>
            <a:pPr marL="0" lvl="0" indent="0" algn="ctr">
              <a:lnSpc>
                <a:spcPts val="4139"/>
              </a:lnSpc>
              <a:spcBef>
                <a:spcPct val="0"/>
              </a:spcBef>
            </a:pPr>
            <a:r>
              <a:rPr lang="en-US" sz="2999" b="1">
                <a:solidFill>
                  <a:srgbClr val="FFFFFF"/>
                </a:solidFill>
                <a:latin typeface="DM Sans Bold"/>
                <a:ea typeface="DM Sans Bold"/>
                <a:cs typeface="DM Sans Bold"/>
                <a:sym typeface="DM Sans Bold"/>
              </a:rPr>
              <a:t>Data Extraction</a:t>
            </a:r>
          </a:p>
        </p:txBody>
      </p:sp>
      <p:sp>
        <p:nvSpPr>
          <p:cNvPr id="19" name="TextBox 19"/>
          <p:cNvSpPr txBox="1"/>
          <p:nvPr/>
        </p:nvSpPr>
        <p:spPr>
          <a:xfrm>
            <a:off x="8501512" y="5453157"/>
            <a:ext cx="2874367" cy="512445"/>
          </a:xfrm>
          <a:prstGeom prst="rect">
            <a:avLst/>
          </a:prstGeom>
        </p:spPr>
        <p:txBody>
          <a:bodyPr lIns="0" tIns="0" rIns="0" bIns="0" rtlCol="0" anchor="t">
            <a:spAutoFit/>
          </a:bodyPr>
          <a:lstStyle/>
          <a:p>
            <a:pPr marL="0" lvl="0" indent="0" algn="ctr">
              <a:lnSpc>
                <a:spcPts val="4140"/>
              </a:lnSpc>
              <a:spcBef>
                <a:spcPct val="0"/>
              </a:spcBef>
            </a:pPr>
            <a:r>
              <a:rPr lang="en-US" sz="3000" b="1">
                <a:solidFill>
                  <a:srgbClr val="FFFFFF"/>
                </a:solidFill>
                <a:latin typeface="DM Sans Bold"/>
                <a:ea typeface="DM Sans Bold"/>
                <a:cs typeface="DM Sans Bold"/>
                <a:sym typeface="DM Sans Bold"/>
              </a:rPr>
              <a:t>Data Clustering </a:t>
            </a:r>
          </a:p>
        </p:txBody>
      </p:sp>
      <p:sp>
        <p:nvSpPr>
          <p:cNvPr id="20" name="TextBox 20"/>
          <p:cNvSpPr txBox="1"/>
          <p:nvPr/>
        </p:nvSpPr>
        <p:spPr>
          <a:xfrm>
            <a:off x="7535100" y="6637886"/>
            <a:ext cx="2745282" cy="512445"/>
          </a:xfrm>
          <a:prstGeom prst="rect">
            <a:avLst/>
          </a:prstGeom>
        </p:spPr>
        <p:txBody>
          <a:bodyPr lIns="0" tIns="0" rIns="0" bIns="0" rtlCol="0" anchor="t">
            <a:spAutoFit/>
          </a:bodyPr>
          <a:lstStyle/>
          <a:p>
            <a:pPr marL="0" lvl="0" indent="0" algn="ctr">
              <a:lnSpc>
                <a:spcPts val="4140"/>
              </a:lnSpc>
              <a:spcBef>
                <a:spcPct val="0"/>
              </a:spcBef>
            </a:pPr>
            <a:r>
              <a:rPr lang="en-US" sz="3000" b="1">
                <a:solidFill>
                  <a:srgbClr val="15345E"/>
                </a:solidFill>
                <a:latin typeface="DM Sans Bold"/>
                <a:ea typeface="DM Sans Bold"/>
                <a:cs typeface="DM Sans Bold"/>
                <a:sym typeface="DM Sans Bold"/>
              </a:rPr>
              <a:t>Building Model</a:t>
            </a:r>
          </a:p>
        </p:txBody>
      </p:sp>
      <p:sp>
        <p:nvSpPr>
          <p:cNvPr id="21" name="TextBox 21"/>
          <p:cNvSpPr txBox="1"/>
          <p:nvPr/>
        </p:nvSpPr>
        <p:spPr>
          <a:xfrm>
            <a:off x="8586768" y="7801313"/>
            <a:ext cx="2745282" cy="512445"/>
          </a:xfrm>
          <a:prstGeom prst="rect">
            <a:avLst/>
          </a:prstGeom>
        </p:spPr>
        <p:txBody>
          <a:bodyPr lIns="0" tIns="0" rIns="0" bIns="0" rtlCol="0" anchor="t">
            <a:spAutoFit/>
          </a:bodyPr>
          <a:lstStyle/>
          <a:p>
            <a:pPr marL="0" lvl="0" indent="0" algn="ctr">
              <a:lnSpc>
                <a:spcPts val="4140"/>
              </a:lnSpc>
              <a:spcBef>
                <a:spcPct val="0"/>
              </a:spcBef>
            </a:pPr>
            <a:r>
              <a:rPr lang="en-US" sz="3000" b="1">
                <a:solidFill>
                  <a:srgbClr val="051D40"/>
                </a:solidFill>
                <a:latin typeface="DM Sans Bold"/>
                <a:ea typeface="DM Sans Bold"/>
                <a:cs typeface="DM Sans Bold"/>
                <a:sym typeface="DM Sans Bold"/>
              </a:rPr>
              <a:t>Prototype</a:t>
            </a:r>
          </a:p>
        </p:txBody>
      </p:sp>
      <p:sp>
        <p:nvSpPr>
          <p:cNvPr id="22" name="TextBox 22"/>
          <p:cNvSpPr txBox="1"/>
          <p:nvPr/>
        </p:nvSpPr>
        <p:spPr>
          <a:xfrm>
            <a:off x="1028700" y="1038225"/>
            <a:ext cx="16230600" cy="1200785"/>
          </a:xfrm>
          <a:prstGeom prst="rect">
            <a:avLst/>
          </a:prstGeom>
        </p:spPr>
        <p:txBody>
          <a:bodyPr lIns="0" tIns="0" rIns="0" bIns="0" rtlCol="0" anchor="t">
            <a:spAutoFit/>
          </a:bodyPr>
          <a:lstStyle/>
          <a:p>
            <a:pPr algn="ctr">
              <a:lnSpc>
                <a:spcPts val="9520"/>
              </a:lnSpc>
            </a:pPr>
            <a:r>
              <a:rPr lang="en-US" sz="8000">
                <a:solidFill>
                  <a:srgbClr val="004AAD"/>
                </a:solidFill>
                <a:latin typeface="Anton"/>
                <a:ea typeface="Anton"/>
                <a:cs typeface="Anton"/>
                <a:sym typeface="Anton"/>
              </a:rPr>
              <a:t>KEY OBJECTIVE</a:t>
            </a:r>
          </a:p>
        </p:txBody>
      </p:sp>
      <p:sp>
        <p:nvSpPr>
          <p:cNvPr id="23" name="Freeform 23"/>
          <p:cNvSpPr/>
          <p:nvPr/>
        </p:nvSpPr>
        <p:spPr>
          <a:xfrm>
            <a:off x="584147" y="7650795"/>
            <a:ext cx="5663569" cy="2461078"/>
          </a:xfrm>
          <a:custGeom>
            <a:avLst/>
            <a:gdLst/>
            <a:ahLst/>
            <a:cxnLst/>
            <a:rect l="l" t="t" r="r" b="b"/>
            <a:pathLst>
              <a:path w="5663569" h="2461078">
                <a:moveTo>
                  <a:pt x="0" y="0"/>
                </a:moveTo>
                <a:lnTo>
                  <a:pt x="5663568" y="0"/>
                </a:lnTo>
                <a:lnTo>
                  <a:pt x="5663568" y="2461078"/>
                </a:lnTo>
                <a:lnTo>
                  <a:pt x="0" y="24610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4" name="Freeform 24"/>
          <p:cNvSpPr/>
          <p:nvPr/>
        </p:nvSpPr>
        <p:spPr>
          <a:xfrm>
            <a:off x="12439601" y="7515047"/>
            <a:ext cx="5600995" cy="2596825"/>
          </a:xfrm>
          <a:custGeom>
            <a:avLst/>
            <a:gdLst/>
            <a:ahLst/>
            <a:cxnLst/>
            <a:rect l="l" t="t" r="r" b="b"/>
            <a:pathLst>
              <a:path w="5600995" h="2596825">
                <a:moveTo>
                  <a:pt x="0" y="0"/>
                </a:moveTo>
                <a:lnTo>
                  <a:pt x="5600996" y="0"/>
                </a:lnTo>
                <a:lnTo>
                  <a:pt x="5600996" y="2596826"/>
                </a:lnTo>
                <a:lnTo>
                  <a:pt x="0" y="25968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5" name="TextBox 2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38225"/>
            <a:ext cx="16230600" cy="1200785"/>
          </a:xfrm>
          <a:prstGeom prst="rect">
            <a:avLst/>
          </a:prstGeom>
        </p:spPr>
        <p:txBody>
          <a:bodyPr lIns="0" tIns="0" rIns="0" bIns="0" rtlCol="0" anchor="t">
            <a:spAutoFit/>
          </a:bodyPr>
          <a:lstStyle/>
          <a:p>
            <a:pPr algn="ctr">
              <a:lnSpc>
                <a:spcPts val="9520"/>
              </a:lnSpc>
            </a:pPr>
            <a:r>
              <a:rPr lang="en-US" sz="8000">
                <a:solidFill>
                  <a:srgbClr val="004AAD"/>
                </a:solidFill>
                <a:latin typeface="Anton"/>
                <a:ea typeface="Anton"/>
                <a:cs typeface="Anton"/>
                <a:sym typeface="Anton"/>
              </a:rPr>
              <a:t>DATA EXTRACTION</a:t>
            </a:r>
          </a:p>
        </p:txBody>
      </p:sp>
      <p:sp>
        <p:nvSpPr>
          <p:cNvPr id="3" name="TextBox 3"/>
          <p:cNvSpPr txBox="1"/>
          <p:nvPr/>
        </p:nvSpPr>
        <p:spPr>
          <a:xfrm>
            <a:off x="4134204" y="3135958"/>
            <a:ext cx="10019591" cy="5562600"/>
          </a:xfrm>
          <a:prstGeom prst="rect">
            <a:avLst/>
          </a:prstGeom>
        </p:spPr>
        <p:txBody>
          <a:bodyPr lIns="0" tIns="0" rIns="0" bIns="0" rtlCol="0" anchor="t">
            <a:spAutoFit/>
          </a:bodyPr>
          <a:lstStyle/>
          <a:p>
            <a:pPr marL="539749" lvl="1" indent="-269875" algn="l">
              <a:lnSpc>
                <a:spcPts val="3449"/>
              </a:lnSpc>
              <a:buFont typeface="Arial"/>
              <a:buChar char="•"/>
            </a:pPr>
            <a:r>
              <a:rPr lang="en-US" sz="2499">
                <a:solidFill>
                  <a:srgbClr val="000000"/>
                </a:solidFill>
                <a:latin typeface="DM Sans"/>
                <a:ea typeface="DM Sans"/>
                <a:cs typeface="DM Sans"/>
                <a:sym typeface="DM Sans"/>
              </a:rPr>
              <a:t>Utilized pdfplumber to extract data for all 6,184 PDF files.</a:t>
            </a:r>
          </a:p>
          <a:p>
            <a:pPr marL="539749" lvl="1" indent="-269875" algn="l">
              <a:lnSpc>
                <a:spcPts val="3449"/>
              </a:lnSpc>
              <a:buFont typeface="Arial"/>
              <a:buChar char="•"/>
            </a:pPr>
            <a:r>
              <a:rPr lang="en-US" sz="2499">
                <a:solidFill>
                  <a:srgbClr val="000000"/>
                </a:solidFill>
                <a:latin typeface="DM Sans"/>
                <a:ea typeface="DM Sans"/>
                <a:cs typeface="DM Sans"/>
                <a:sym typeface="DM Sans"/>
              </a:rPr>
              <a:t>Applied regex patterns to capture key details such as:</a:t>
            </a:r>
          </a:p>
          <a:p>
            <a:pPr marL="1079499" lvl="2" indent="-359833" algn="l">
              <a:lnSpc>
                <a:spcPts val="3449"/>
              </a:lnSpc>
              <a:buFont typeface="Arial"/>
              <a:buChar char="⚬"/>
            </a:pPr>
            <a:r>
              <a:rPr lang="en-US" sz="2499">
                <a:solidFill>
                  <a:srgbClr val="000000"/>
                </a:solidFill>
                <a:latin typeface="DM Sans"/>
                <a:ea typeface="DM Sans"/>
                <a:cs typeface="DM Sans"/>
                <a:sym typeface="DM Sans"/>
              </a:rPr>
              <a:t>Invoice Number</a:t>
            </a:r>
          </a:p>
          <a:p>
            <a:pPr marL="1079499" lvl="2" indent="-359833" algn="l">
              <a:lnSpc>
                <a:spcPts val="3449"/>
              </a:lnSpc>
              <a:buFont typeface="Arial"/>
              <a:buChar char="⚬"/>
            </a:pPr>
            <a:r>
              <a:rPr lang="en-US" sz="2499">
                <a:solidFill>
                  <a:srgbClr val="000000"/>
                </a:solidFill>
                <a:latin typeface="DM Sans"/>
                <a:ea typeface="DM Sans"/>
                <a:cs typeface="DM Sans"/>
                <a:sym typeface="DM Sans"/>
              </a:rPr>
              <a:t>Make, Model, Year, Mileage, VIN, License Plate</a:t>
            </a:r>
          </a:p>
          <a:p>
            <a:pPr marL="1079499" lvl="2" indent="-359833" algn="l">
              <a:lnSpc>
                <a:spcPts val="3449"/>
              </a:lnSpc>
              <a:buFont typeface="Arial"/>
              <a:buChar char="⚬"/>
            </a:pPr>
            <a:r>
              <a:rPr lang="en-US" sz="2499">
                <a:solidFill>
                  <a:srgbClr val="000000"/>
                </a:solidFill>
                <a:latin typeface="DM Sans"/>
                <a:ea typeface="DM Sans"/>
                <a:cs typeface="DM Sans"/>
                <a:sym typeface="DM Sans"/>
              </a:rPr>
              <a:t>Customer Concern &amp; Finding</a:t>
            </a:r>
          </a:p>
          <a:p>
            <a:pPr marL="1079499" lvl="2" indent="-359833" algn="l">
              <a:lnSpc>
                <a:spcPts val="3449"/>
              </a:lnSpc>
              <a:buFont typeface="Arial"/>
              <a:buChar char="⚬"/>
            </a:pPr>
            <a:r>
              <a:rPr lang="en-US" sz="2499">
                <a:solidFill>
                  <a:srgbClr val="000000"/>
                </a:solidFill>
                <a:latin typeface="DM Sans"/>
                <a:ea typeface="DM Sans"/>
                <a:cs typeface="DM Sans"/>
                <a:sym typeface="DM Sans"/>
              </a:rPr>
              <a:t>Jobs (Labor + Parts+ Cost)</a:t>
            </a:r>
          </a:p>
          <a:p>
            <a:pPr marL="1079499" lvl="2" indent="-359833" algn="l">
              <a:lnSpc>
                <a:spcPts val="3449"/>
              </a:lnSpc>
              <a:buFont typeface="Arial"/>
              <a:buChar char="⚬"/>
            </a:pPr>
            <a:r>
              <a:rPr lang="en-US" sz="2499">
                <a:solidFill>
                  <a:srgbClr val="000000"/>
                </a:solidFill>
                <a:latin typeface="DM Sans"/>
                <a:ea typeface="DM Sans"/>
                <a:cs typeface="DM Sans"/>
                <a:sym typeface="DM Sans"/>
              </a:rPr>
              <a:t>Total Amount and Labor Time</a:t>
            </a:r>
          </a:p>
          <a:p>
            <a:pPr marL="1079499" lvl="2" indent="-359833" algn="l">
              <a:lnSpc>
                <a:spcPts val="3449"/>
              </a:lnSpc>
              <a:buFont typeface="Arial"/>
              <a:buChar char="⚬"/>
            </a:pPr>
            <a:r>
              <a:rPr lang="en-US" sz="2499">
                <a:solidFill>
                  <a:srgbClr val="000000"/>
                </a:solidFill>
                <a:latin typeface="DM Sans"/>
                <a:ea typeface="DM Sans"/>
                <a:cs typeface="DM Sans"/>
                <a:sym typeface="DM Sans"/>
              </a:rPr>
              <a:t>DTC Code</a:t>
            </a:r>
          </a:p>
          <a:p>
            <a:pPr marL="539749" lvl="1" indent="-269875" algn="l">
              <a:lnSpc>
                <a:spcPts val="3449"/>
              </a:lnSpc>
              <a:buFont typeface="Arial"/>
              <a:buChar char="•"/>
            </a:pPr>
            <a:r>
              <a:rPr lang="en-US" sz="2499">
                <a:solidFill>
                  <a:srgbClr val="000000"/>
                </a:solidFill>
                <a:latin typeface="DM Sans"/>
                <a:ea typeface="DM Sans"/>
                <a:cs typeface="DM Sans"/>
                <a:sym typeface="DM Sans"/>
              </a:rPr>
              <a:t>Employed RapidFuzz to detect and correct typos and inconsistencies.</a:t>
            </a:r>
          </a:p>
          <a:p>
            <a:pPr marL="539749" lvl="1" indent="-269875" algn="l">
              <a:lnSpc>
                <a:spcPts val="3449"/>
              </a:lnSpc>
              <a:buFont typeface="Arial"/>
              <a:buChar char="•"/>
            </a:pPr>
            <a:r>
              <a:rPr lang="en-US" sz="2499">
                <a:solidFill>
                  <a:srgbClr val="000000"/>
                </a:solidFill>
                <a:latin typeface="DM Sans"/>
                <a:ea typeface="DM Sans"/>
                <a:cs typeface="DM Sans"/>
                <a:sym typeface="DM Sans"/>
              </a:rPr>
              <a:t>Used LLM to normalize the user concerns and group them in different car repair categories</a:t>
            </a:r>
          </a:p>
          <a:p>
            <a:pPr marL="539749" lvl="1" indent="-269875" algn="l">
              <a:lnSpc>
                <a:spcPts val="3449"/>
              </a:lnSpc>
              <a:buFont typeface="Arial"/>
              <a:buChar char="•"/>
            </a:pPr>
            <a:r>
              <a:rPr lang="en-US" sz="2499">
                <a:solidFill>
                  <a:srgbClr val="000000"/>
                </a:solidFill>
                <a:latin typeface="DM Sans"/>
                <a:ea typeface="DM Sans"/>
                <a:cs typeface="DM Sans"/>
                <a:sym typeface="DM Sans"/>
              </a:rPr>
              <a:t>Converted to .json for modeling</a:t>
            </a:r>
          </a:p>
        </p:txBody>
      </p:sp>
      <p:sp>
        <p:nvSpPr>
          <p:cNvPr id="4" name="Freeform 4"/>
          <p:cNvSpPr/>
          <p:nvPr/>
        </p:nvSpPr>
        <p:spPr>
          <a:xfrm>
            <a:off x="14482573" y="333381"/>
            <a:ext cx="6352098" cy="1905629"/>
          </a:xfrm>
          <a:custGeom>
            <a:avLst/>
            <a:gdLst/>
            <a:ahLst/>
            <a:cxnLst/>
            <a:rect l="l" t="t" r="r" b="b"/>
            <a:pathLst>
              <a:path w="6352098" h="1905629">
                <a:moveTo>
                  <a:pt x="0" y="0"/>
                </a:moveTo>
                <a:lnTo>
                  <a:pt x="6352098" y="0"/>
                </a:lnTo>
                <a:lnTo>
                  <a:pt x="6352098" y="1905629"/>
                </a:lnTo>
                <a:lnTo>
                  <a:pt x="0" y="19056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2330915" y="333381"/>
            <a:ext cx="6352098" cy="1905629"/>
          </a:xfrm>
          <a:custGeom>
            <a:avLst/>
            <a:gdLst/>
            <a:ahLst/>
            <a:cxnLst/>
            <a:rect l="l" t="t" r="r" b="b"/>
            <a:pathLst>
              <a:path w="6352098" h="1905629">
                <a:moveTo>
                  <a:pt x="0" y="0"/>
                </a:moveTo>
                <a:lnTo>
                  <a:pt x="6352098" y="0"/>
                </a:lnTo>
                <a:lnTo>
                  <a:pt x="6352098" y="1905629"/>
                </a:lnTo>
                <a:lnTo>
                  <a:pt x="0" y="19056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32858" y="1724852"/>
            <a:ext cx="15622283" cy="8074349"/>
            <a:chOff x="0" y="0"/>
            <a:chExt cx="4114511" cy="2126577"/>
          </a:xfrm>
        </p:grpSpPr>
        <p:sp>
          <p:nvSpPr>
            <p:cNvPr id="3" name="Freeform 3"/>
            <p:cNvSpPr/>
            <p:nvPr/>
          </p:nvSpPr>
          <p:spPr>
            <a:xfrm>
              <a:off x="0" y="0"/>
              <a:ext cx="4114511" cy="2126577"/>
            </a:xfrm>
            <a:custGeom>
              <a:avLst/>
              <a:gdLst/>
              <a:ahLst/>
              <a:cxnLst/>
              <a:rect l="l" t="t" r="r" b="b"/>
              <a:pathLst>
                <a:path w="4114511" h="2126577">
                  <a:moveTo>
                    <a:pt x="24778" y="0"/>
                  </a:moveTo>
                  <a:lnTo>
                    <a:pt x="4089733" y="0"/>
                  </a:lnTo>
                  <a:cubicBezTo>
                    <a:pt x="4096304" y="0"/>
                    <a:pt x="4102607" y="2611"/>
                    <a:pt x="4107254" y="7257"/>
                  </a:cubicBezTo>
                  <a:cubicBezTo>
                    <a:pt x="4111900" y="11904"/>
                    <a:pt x="4114511" y="18207"/>
                    <a:pt x="4114511" y="24778"/>
                  </a:cubicBezTo>
                  <a:lnTo>
                    <a:pt x="4114511" y="2101799"/>
                  </a:lnTo>
                  <a:cubicBezTo>
                    <a:pt x="4114511" y="2108371"/>
                    <a:pt x="4111900" y="2114673"/>
                    <a:pt x="4107254" y="2119320"/>
                  </a:cubicBezTo>
                  <a:cubicBezTo>
                    <a:pt x="4102607" y="2123967"/>
                    <a:pt x="4096304" y="2126577"/>
                    <a:pt x="4089733" y="2126577"/>
                  </a:cubicBezTo>
                  <a:lnTo>
                    <a:pt x="24778" y="2126577"/>
                  </a:lnTo>
                  <a:cubicBezTo>
                    <a:pt x="18207" y="2126577"/>
                    <a:pt x="11904" y="2123967"/>
                    <a:pt x="7257" y="2119320"/>
                  </a:cubicBezTo>
                  <a:cubicBezTo>
                    <a:pt x="2611" y="2114673"/>
                    <a:pt x="0" y="2108371"/>
                    <a:pt x="0" y="2101799"/>
                  </a:cubicBezTo>
                  <a:lnTo>
                    <a:pt x="0" y="24778"/>
                  </a:lnTo>
                  <a:cubicBezTo>
                    <a:pt x="0" y="18207"/>
                    <a:pt x="2611" y="11904"/>
                    <a:pt x="7257" y="7257"/>
                  </a:cubicBezTo>
                  <a:cubicBezTo>
                    <a:pt x="11904" y="2611"/>
                    <a:pt x="18207" y="0"/>
                    <a:pt x="24778" y="0"/>
                  </a:cubicBezTo>
                  <a:close/>
                </a:path>
              </a:pathLst>
            </a:custGeom>
            <a:solidFill>
              <a:srgbClr val="051D40">
                <a:alpha val="14902"/>
              </a:srgbClr>
            </a:solidFill>
          </p:spPr>
          <p:txBody>
            <a:bodyPr/>
            <a:lstStyle/>
            <a:p>
              <a:endParaRPr lang="en-US"/>
            </a:p>
          </p:txBody>
        </p:sp>
        <p:sp>
          <p:nvSpPr>
            <p:cNvPr id="4" name="TextBox 4"/>
            <p:cNvSpPr txBox="1"/>
            <p:nvPr/>
          </p:nvSpPr>
          <p:spPr>
            <a:xfrm>
              <a:off x="0" y="-38100"/>
              <a:ext cx="4114511" cy="2164677"/>
            </a:xfrm>
            <a:prstGeom prst="rect">
              <a:avLst/>
            </a:prstGeom>
          </p:spPr>
          <p:txBody>
            <a:bodyPr lIns="50800" tIns="50800" rIns="50800" bIns="50800" rtlCol="0" anchor="ctr"/>
            <a:lstStyle/>
            <a:p>
              <a:pPr algn="ctr">
                <a:lnSpc>
                  <a:spcPts val="2605"/>
                </a:lnSpc>
              </a:pPr>
              <a:endParaRPr/>
            </a:p>
          </p:txBody>
        </p:sp>
      </p:grpSp>
      <p:sp>
        <p:nvSpPr>
          <p:cNvPr id="5" name="TextBox 5"/>
          <p:cNvSpPr txBox="1"/>
          <p:nvPr/>
        </p:nvSpPr>
        <p:spPr>
          <a:xfrm>
            <a:off x="2006824" y="2076433"/>
            <a:ext cx="7137176" cy="7767066"/>
          </a:xfrm>
          <a:prstGeom prst="rect">
            <a:avLst/>
          </a:prstGeom>
        </p:spPr>
        <p:txBody>
          <a:bodyPr lIns="0" tIns="0" rIns="0" bIns="0" rtlCol="0" anchor="t">
            <a:spAutoFit/>
          </a:bodyPr>
          <a:lstStyle/>
          <a:p>
            <a:pPr algn="l">
              <a:lnSpc>
                <a:spcPts val="2622"/>
              </a:lnSpc>
            </a:pPr>
            <a:r>
              <a:rPr lang="en-US" sz="1900">
                <a:solidFill>
                  <a:srgbClr val="000000"/>
                </a:solidFill>
                <a:latin typeface="DM Sans"/>
                <a:ea typeface="DM Sans"/>
                <a:cs typeface="DM Sans"/>
                <a:sym typeface="DM Sans"/>
              </a:rPr>
              <a:t>{{</a:t>
            </a:r>
          </a:p>
          <a:p>
            <a:pPr algn="l">
              <a:lnSpc>
                <a:spcPts val="2622"/>
              </a:lnSpc>
            </a:pPr>
            <a:r>
              <a:rPr lang="en-US" sz="1900">
                <a:solidFill>
                  <a:srgbClr val="000000"/>
                </a:solidFill>
                <a:latin typeface="DM Sans"/>
                <a:ea typeface="DM Sans"/>
                <a:cs typeface="DM Sans"/>
                <a:sym typeface="DM Sans"/>
              </a:rPr>
              <a:t>    "repair_order": {</a:t>
            </a:r>
          </a:p>
          <a:p>
            <a:pPr algn="l">
              <a:lnSpc>
                <a:spcPts val="2622"/>
              </a:lnSpc>
            </a:pPr>
            <a:r>
              <a:rPr lang="en-US" sz="1900">
                <a:solidFill>
                  <a:srgbClr val="000000"/>
                </a:solidFill>
                <a:latin typeface="DM Sans"/>
                <a:ea typeface="DM Sans"/>
                <a:cs typeface="DM Sans"/>
                <a:sym typeface="DM Sans"/>
              </a:rPr>
              <a:t>      "Invoice Number": 43757,</a:t>
            </a:r>
          </a:p>
          <a:p>
            <a:pPr algn="l">
              <a:lnSpc>
                <a:spcPts val="2622"/>
              </a:lnSpc>
            </a:pPr>
            <a:r>
              <a:rPr lang="en-US" sz="1900">
                <a:solidFill>
                  <a:srgbClr val="000000"/>
                </a:solidFill>
                <a:latin typeface="DM Sans"/>
                <a:ea typeface="DM Sans"/>
                <a:cs typeface="DM Sans"/>
                <a:sym typeface="DM Sans"/>
              </a:rPr>
              <a:t>      "vehicle_info": {</a:t>
            </a:r>
          </a:p>
          <a:p>
            <a:pPr algn="l">
              <a:lnSpc>
                <a:spcPts val="2622"/>
              </a:lnSpc>
            </a:pPr>
            <a:r>
              <a:rPr lang="en-US" sz="1900">
                <a:solidFill>
                  <a:srgbClr val="000000"/>
                </a:solidFill>
                <a:latin typeface="DM Sans"/>
                <a:ea typeface="DM Sans"/>
                <a:cs typeface="DM Sans"/>
                <a:sym typeface="DM Sans"/>
              </a:rPr>
              <a:t>        "make": "Subaru",</a:t>
            </a:r>
          </a:p>
          <a:p>
            <a:pPr algn="l">
              <a:lnSpc>
                <a:spcPts val="2622"/>
              </a:lnSpc>
            </a:pPr>
            <a:r>
              <a:rPr lang="en-US" sz="1900">
                <a:solidFill>
                  <a:srgbClr val="000000"/>
                </a:solidFill>
                <a:latin typeface="DM Sans"/>
                <a:ea typeface="DM Sans"/>
                <a:cs typeface="DM Sans"/>
                <a:sym typeface="DM Sans"/>
              </a:rPr>
              <a:t>        "model": "Impreza",</a:t>
            </a:r>
          </a:p>
          <a:p>
            <a:pPr algn="l">
              <a:lnSpc>
                <a:spcPts val="2622"/>
              </a:lnSpc>
            </a:pPr>
            <a:r>
              <a:rPr lang="en-US" sz="1900">
                <a:solidFill>
                  <a:srgbClr val="000000"/>
                </a:solidFill>
                <a:latin typeface="DM Sans"/>
                <a:ea typeface="DM Sans"/>
                <a:cs typeface="DM Sans"/>
                <a:sym typeface="DM Sans"/>
              </a:rPr>
              <a:t>        "year": 2017,</a:t>
            </a:r>
          </a:p>
          <a:p>
            <a:pPr algn="l">
              <a:lnSpc>
                <a:spcPts val="2622"/>
              </a:lnSpc>
            </a:pPr>
            <a:r>
              <a:rPr lang="en-US" sz="1900">
                <a:solidFill>
                  <a:srgbClr val="000000"/>
                </a:solidFill>
                <a:latin typeface="DM Sans"/>
                <a:ea typeface="DM Sans"/>
                <a:cs typeface="DM Sans"/>
                <a:sym typeface="DM Sans"/>
              </a:rPr>
              <a:t>        "mileage": 79406,</a:t>
            </a:r>
          </a:p>
          <a:p>
            <a:pPr algn="l">
              <a:lnSpc>
                <a:spcPts val="2622"/>
              </a:lnSpc>
            </a:pPr>
            <a:r>
              <a:rPr lang="en-US" sz="1900">
                <a:solidFill>
                  <a:srgbClr val="000000"/>
                </a:solidFill>
                <a:latin typeface="DM Sans"/>
                <a:ea typeface="DM Sans"/>
                <a:cs typeface="DM Sans"/>
                <a:sym typeface="DM Sans"/>
              </a:rPr>
              <a:t>        "VIN": "4S3GTAA62H3748791",</a:t>
            </a:r>
          </a:p>
          <a:p>
            <a:pPr algn="l">
              <a:lnSpc>
                <a:spcPts val="2622"/>
              </a:lnSpc>
            </a:pPr>
            <a:r>
              <a:rPr lang="en-US" sz="1900">
                <a:solidFill>
                  <a:srgbClr val="000000"/>
                </a:solidFill>
                <a:latin typeface="DM Sans"/>
                <a:ea typeface="DM Sans"/>
                <a:cs typeface="DM Sans"/>
                <a:sym typeface="DM Sans"/>
              </a:rPr>
              <a:t>        "License Plate": "AL37737CT"</a:t>
            </a:r>
          </a:p>
          <a:p>
            <a:pPr algn="l">
              <a:lnSpc>
                <a:spcPts val="2622"/>
              </a:lnSpc>
            </a:pPr>
            <a:r>
              <a:rPr lang="en-US" sz="1900">
                <a:solidFill>
                  <a:srgbClr val="000000"/>
                </a:solidFill>
                <a:latin typeface="DM Sans"/>
                <a:ea typeface="DM Sans"/>
                <a:cs typeface="DM Sans"/>
                <a:sym typeface="DM Sans"/>
              </a:rPr>
              <a:t>      },</a:t>
            </a:r>
          </a:p>
          <a:p>
            <a:pPr algn="l">
              <a:lnSpc>
                <a:spcPts val="2622"/>
              </a:lnSpc>
            </a:pPr>
            <a:r>
              <a:rPr lang="en-US" sz="1900">
                <a:solidFill>
                  <a:srgbClr val="000000"/>
                </a:solidFill>
                <a:latin typeface="DM Sans"/>
                <a:ea typeface="DM Sans"/>
                <a:cs typeface="DM Sans"/>
                <a:sym typeface="DM Sans"/>
              </a:rPr>
              <a:t>      "billing_info": {</a:t>
            </a:r>
          </a:p>
          <a:p>
            <a:pPr algn="l">
              <a:lnSpc>
                <a:spcPts val="2622"/>
              </a:lnSpc>
            </a:pPr>
            <a:r>
              <a:rPr lang="en-US" sz="1900">
                <a:solidFill>
                  <a:srgbClr val="000000"/>
                </a:solidFill>
                <a:latin typeface="DM Sans"/>
                <a:ea typeface="DM Sans"/>
                <a:cs typeface="DM Sans"/>
                <a:sym typeface="DM Sans"/>
              </a:rPr>
              <a:t>        "labor_time": 1.5,</a:t>
            </a:r>
          </a:p>
          <a:p>
            <a:pPr algn="l">
              <a:lnSpc>
                <a:spcPts val="2622"/>
              </a:lnSpc>
            </a:pPr>
            <a:r>
              <a:rPr lang="en-US" sz="1900">
                <a:solidFill>
                  <a:srgbClr val="000000"/>
                </a:solidFill>
                <a:latin typeface="DM Sans"/>
                <a:ea typeface="DM Sans"/>
                <a:cs typeface="DM Sans"/>
                <a:sym typeface="DM Sans"/>
              </a:rPr>
              <a:t>        "labor_cost": 150.0,</a:t>
            </a:r>
          </a:p>
          <a:p>
            <a:pPr algn="l">
              <a:lnSpc>
                <a:spcPts val="2622"/>
              </a:lnSpc>
            </a:pPr>
            <a:r>
              <a:rPr lang="en-US" sz="1900">
                <a:solidFill>
                  <a:srgbClr val="000000"/>
                </a:solidFill>
                <a:latin typeface="DM Sans"/>
                <a:ea typeface="DM Sans"/>
                <a:cs typeface="DM Sans"/>
                <a:sym typeface="DM Sans"/>
              </a:rPr>
              <a:t>        "total_amount": 454.98</a:t>
            </a:r>
          </a:p>
          <a:p>
            <a:pPr algn="l">
              <a:lnSpc>
                <a:spcPts val="2622"/>
              </a:lnSpc>
            </a:pPr>
            <a:r>
              <a:rPr lang="en-US" sz="1900">
                <a:solidFill>
                  <a:srgbClr val="000000"/>
                </a:solidFill>
                <a:latin typeface="DM Sans"/>
                <a:ea typeface="DM Sans"/>
                <a:cs typeface="DM Sans"/>
                <a:sym typeface="DM Sans"/>
              </a:rPr>
              <a:t>      },</a:t>
            </a:r>
          </a:p>
          <a:p>
            <a:pPr algn="l">
              <a:lnSpc>
                <a:spcPts val="2622"/>
              </a:lnSpc>
            </a:pPr>
            <a:r>
              <a:rPr lang="en-US" sz="1900">
                <a:solidFill>
                  <a:srgbClr val="000000"/>
                </a:solidFill>
                <a:latin typeface="DM Sans"/>
                <a:ea typeface="DM Sans"/>
                <a:cs typeface="DM Sans"/>
                <a:sym typeface="DM Sans"/>
              </a:rPr>
              <a:t>      "customer_concerns": [</a:t>
            </a:r>
          </a:p>
          <a:p>
            <a:pPr algn="l">
              <a:lnSpc>
                <a:spcPts val="2622"/>
              </a:lnSpc>
            </a:pPr>
            <a:r>
              <a:rPr lang="en-US" sz="1900">
                <a:solidFill>
                  <a:srgbClr val="000000"/>
                </a:solidFill>
                <a:latin typeface="DM Sans"/>
                <a:ea typeface="DM Sans"/>
                <a:cs typeface="DM Sans"/>
                <a:sym typeface="DM Sans"/>
              </a:rPr>
              <a:t>        {</a:t>
            </a:r>
          </a:p>
          <a:p>
            <a:pPr algn="l">
              <a:lnSpc>
                <a:spcPts val="2622"/>
              </a:lnSpc>
            </a:pPr>
            <a:r>
              <a:rPr lang="en-US" sz="1900">
                <a:solidFill>
                  <a:srgbClr val="000000"/>
                </a:solidFill>
                <a:latin typeface="DM Sans"/>
                <a:ea typeface="DM Sans"/>
                <a:cs typeface="DM Sans"/>
                <a:sym typeface="DM Sans"/>
              </a:rPr>
              <a:t>          "concern": "brake squeak",</a:t>
            </a:r>
          </a:p>
          <a:p>
            <a:pPr algn="l">
              <a:lnSpc>
                <a:spcPts val="2622"/>
              </a:lnSpc>
            </a:pPr>
            <a:r>
              <a:rPr lang="en-US" sz="1900">
                <a:solidFill>
                  <a:srgbClr val="000000"/>
                </a:solidFill>
                <a:latin typeface="DM Sans"/>
                <a:ea typeface="DM Sans"/>
                <a:cs typeface="DM Sans"/>
                <a:sym typeface="DM Sans"/>
              </a:rPr>
              <a:t>          "normalized_concern": "Brake squeaking noise",</a:t>
            </a:r>
          </a:p>
          <a:p>
            <a:pPr algn="l">
              <a:lnSpc>
                <a:spcPts val="2622"/>
              </a:lnSpc>
            </a:pPr>
            <a:r>
              <a:rPr lang="en-US" sz="1900">
                <a:solidFill>
                  <a:srgbClr val="000000"/>
                </a:solidFill>
                <a:latin typeface="DM Sans"/>
                <a:ea typeface="DM Sans"/>
                <a:cs typeface="DM Sans"/>
                <a:sym typeface="DM Sans"/>
              </a:rPr>
              <a:t>          "group": "Noise / Vibration"</a:t>
            </a:r>
          </a:p>
          <a:p>
            <a:pPr algn="l">
              <a:lnSpc>
                <a:spcPts val="2622"/>
              </a:lnSpc>
            </a:pPr>
            <a:r>
              <a:rPr lang="en-US" sz="1900">
                <a:solidFill>
                  <a:srgbClr val="000000"/>
                </a:solidFill>
                <a:latin typeface="DM Sans"/>
                <a:ea typeface="DM Sans"/>
                <a:cs typeface="DM Sans"/>
                <a:sym typeface="DM Sans"/>
              </a:rPr>
              <a:t>        }</a:t>
            </a:r>
          </a:p>
          <a:p>
            <a:pPr algn="l">
              <a:lnSpc>
                <a:spcPts val="2622"/>
              </a:lnSpc>
            </a:pPr>
            <a:r>
              <a:rPr lang="en-US" sz="1900">
                <a:solidFill>
                  <a:srgbClr val="000000"/>
                </a:solidFill>
                <a:latin typeface="DM Sans"/>
                <a:ea typeface="DM Sans"/>
                <a:cs typeface="DM Sans"/>
                <a:sym typeface="DM Sans"/>
              </a:rPr>
              <a:t>      ],</a:t>
            </a:r>
          </a:p>
          <a:p>
            <a:pPr algn="l">
              <a:lnSpc>
                <a:spcPts val="2622"/>
              </a:lnSpc>
            </a:pPr>
            <a:endParaRPr lang="en-US" sz="1900">
              <a:solidFill>
                <a:srgbClr val="000000"/>
              </a:solidFill>
              <a:latin typeface="DM Sans"/>
              <a:ea typeface="DM Sans"/>
              <a:cs typeface="DM Sans"/>
              <a:sym typeface="DM Sans"/>
            </a:endParaRPr>
          </a:p>
        </p:txBody>
      </p:sp>
      <p:sp>
        <p:nvSpPr>
          <p:cNvPr id="6" name="TextBox 6"/>
          <p:cNvSpPr txBox="1"/>
          <p:nvPr/>
        </p:nvSpPr>
        <p:spPr>
          <a:xfrm>
            <a:off x="9490034" y="2224070"/>
            <a:ext cx="7223986" cy="7443216"/>
          </a:xfrm>
          <a:prstGeom prst="rect">
            <a:avLst/>
          </a:prstGeom>
        </p:spPr>
        <p:txBody>
          <a:bodyPr lIns="0" tIns="0" rIns="0" bIns="0" rtlCol="0" anchor="t">
            <a:spAutoFit/>
          </a:bodyPr>
          <a:lstStyle/>
          <a:p>
            <a:pPr algn="l">
              <a:lnSpc>
                <a:spcPts val="2622"/>
              </a:lnSpc>
            </a:pPr>
            <a:r>
              <a:rPr lang="en-US" sz="1900">
                <a:solidFill>
                  <a:srgbClr val="000000"/>
                </a:solidFill>
                <a:latin typeface="DM Sans"/>
                <a:ea typeface="DM Sans"/>
                <a:cs typeface="DM Sans"/>
                <a:sym typeface="DM Sans"/>
              </a:rPr>
              <a:t>      "jobs": [</a:t>
            </a:r>
          </a:p>
          <a:p>
            <a:pPr algn="l">
              <a:lnSpc>
                <a:spcPts val="2622"/>
              </a:lnSpc>
            </a:pPr>
            <a:r>
              <a:rPr lang="en-US" sz="1900">
                <a:solidFill>
                  <a:srgbClr val="000000"/>
                </a:solidFill>
                <a:latin typeface="DM Sans"/>
                <a:ea typeface="DM Sans"/>
                <a:cs typeface="DM Sans"/>
                <a:sym typeface="DM Sans"/>
              </a:rPr>
              <a:t>        {</a:t>
            </a:r>
          </a:p>
          <a:p>
            <a:pPr algn="l">
              <a:lnSpc>
                <a:spcPts val="2622"/>
              </a:lnSpc>
            </a:pPr>
            <a:r>
              <a:rPr lang="en-US" sz="1900">
                <a:solidFill>
                  <a:srgbClr val="000000"/>
                </a:solidFill>
                <a:latin typeface="DM Sans"/>
                <a:ea typeface="DM Sans"/>
                <a:cs typeface="DM Sans"/>
                <a:sym typeface="DM Sans"/>
              </a:rPr>
              <a:t>          "description": "rr rear pads rotors",</a:t>
            </a:r>
          </a:p>
          <a:p>
            <a:pPr algn="l">
              <a:lnSpc>
                <a:spcPts val="2622"/>
              </a:lnSpc>
            </a:pPr>
            <a:r>
              <a:rPr lang="en-US" sz="1900">
                <a:solidFill>
                  <a:srgbClr val="000000"/>
                </a:solidFill>
                <a:latin typeface="DM Sans"/>
                <a:ea typeface="DM Sans"/>
                <a:cs typeface="DM Sans"/>
                <a:sym typeface="DM Sans"/>
              </a:rPr>
              <a:t>          "parts": [</a:t>
            </a:r>
          </a:p>
          <a:p>
            <a:pPr algn="l">
              <a:lnSpc>
                <a:spcPts val="2622"/>
              </a:lnSpc>
            </a:pPr>
            <a:r>
              <a:rPr lang="en-US" sz="1900">
                <a:solidFill>
                  <a:srgbClr val="000000"/>
                </a:solidFill>
                <a:latin typeface="DM Sans"/>
                <a:ea typeface="DM Sans"/>
                <a:cs typeface="DM Sans"/>
                <a:sym typeface="DM Sans"/>
              </a:rPr>
              <a:t>            {</a:t>
            </a:r>
          </a:p>
          <a:p>
            <a:pPr algn="l">
              <a:lnSpc>
                <a:spcPts val="2622"/>
              </a:lnSpc>
            </a:pPr>
            <a:r>
              <a:rPr lang="en-US" sz="1900">
                <a:solidFill>
                  <a:srgbClr val="000000"/>
                </a:solidFill>
                <a:latin typeface="DM Sans"/>
                <a:ea typeface="DM Sans"/>
                <a:cs typeface="DM Sans"/>
                <a:sym typeface="DM Sans"/>
              </a:rPr>
              <a:t>              "name": "rear brake pad set premium brake pad set10303 ceramic brake pads",</a:t>
            </a:r>
          </a:p>
          <a:p>
            <a:pPr algn="l">
              <a:lnSpc>
                <a:spcPts val="2622"/>
              </a:lnSpc>
            </a:pPr>
            <a:r>
              <a:rPr lang="en-US" sz="1900">
                <a:solidFill>
                  <a:srgbClr val="000000"/>
                </a:solidFill>
                <a:latin typeface="DM Sans"/>
                <a:ea typeface="DM Sans"/>
                <a:cs typeface="DM Sans"/>
                <a:sym typeface="DM Sans"/>
              </a:rPr>
              <a:t>              "cost": 99.99</a:t>
            </a:r>
          </a:p>
          <a:p>
            <a:pPr algn="l">
              <a:lnSpc>
                <a:spcPts val="2622"/>
              </a:lnSpc>
            </a:pPr>
            <a:r>
              <a:rPr lang="en-US" sz="1900">
                <a:solidFill>
                  <a:srgbClr val="000000"/>
                </a:solidFill>
                <a:latin typeface="DM Sans"/>
                <a:ea typeface="DM Sans"/>
                <a:cs typeface="DM Sans"/>
                <a:sym typeface="DM Sans"/>
              </a:rPr>
              <a:t>            },</a:t>
            </a:r>
          </a:p>
          <a:p>
            <a:pPr algn="l">
              <a:lnSpc>
                <a:spcPts val="2622"/>
              </a:lnSpc>
            </a:pPr>
            <a:r>
              <a:rPr lang="en-US" sz="1900">
                <a:solidFill>
                  <a:srgbClr val="000000"/>
                </a:solidFill>
                <a:latin typeface="DM Sans"/>
                <a:ea typeface="DM Sans"/>
                <a:cs typeface="DM Sans"/>
                <a:sym typeface="DM Sans"/>
              </a:rPr>
              <a:t>            {</a:t>
            </a:r>
          </a:p>
          <a:p>
            <a:pPr algn="l">
              <a:lnSpc>
                <a:spcPts val="2622"/>
              </a:lnSpc>
            </a:pPr>
            <a:r>
              <a:rPr lang="en-US" sz="1900">
                <a:solidFill>
                  <a:srgbClr val="000000"/>
                </a:solidFill>
                <a:latin typeface="DM Sans"/>
                <a:ea typeface="DM Sans"/>
                <a:cs typeface="DM Sans"/>
                <a:sym typeface="DM Sans"/>
              </a:rPr>
              <a:t>              "name": "rear brake rotors premium brake rotors103gnd coated hat rotors when available",</a:t>
            </a:r>
          </a:p>
          <a:p>
            <a:pPr algn="l">
              <a:lnSpc>
                <a:spcPts val="2622"/>
              </a:lnSpc>
            </a:pPr>
            <a:r>
              <a:rPr lang="en-US" sz="1900">
                <a:solidFill>
                  <a:srgbClr val="000000"/>
                </a:solidFill>
                <a:latin typeface="DM Sans"/>
                <a:ea typeface="DM Sans"/>
                <a:cs typeface="DM Sans"/>
                <a:sym typeface="DM Sans"/>
              </a:rPr>
              <a:t>              "cost": 150.0</a:t>
            </a:r>
          </a:p>
          <a:p>
            <a:pPr algn="l">
              <a:lnSpc>
                <a:spcPts val="2622"/>
              </a:lnSpc>
            </a:pPr>
            <a:r>
              <a:rPr lang="en-US" sz="1900">
                <a:solidFill>
                  <a:srgbClr val="000000"/>
                </a:solidFill>
                <a:latin typeface="DM Sans"/>
                <a:ea typeface="DM Sans"/>
                <a:cs typeface="DM Sans"/>
                <a:sym typeface="DM Sans"/>
              </a:rPr>
              <a:t>            },</a:t>
            </a:r>
          </a:p>
          <a:p>
            <a:pPr algn="l">
              <a:lnSpc>
                <a:spcPts val="2622"/>
              </a:lnSpc>
            </a:pPr>
            <a:r>
              <a:rPr lang="en-US" sz="1900">
                <a:solidFill>
                  <a:srgbClr val="000000"/>
                </a:solidFill>
                <a:latin typeface="DM Sans"/>
                <a:ea typeface="DM Sans"/>
                <a:cs typeface="DM Sans"/>
                <a:sym typeface="DM Sans"/>
              </a:rPr>
              <a:t>            {</a:t>
            </a:r>
          </a:p>
          <a:p>
            <a:pPr algn="l">
              <a:lnSpc>
                <a:spcPts val="2622"/>
              </a:lnSpc>
            </a:pPr>
            <a:r>
              <a:rPr lang="en-US" sz="1900">
                <a:solidFill>
                  <a:srgbClr val="000000"/>
                </a:solidFill>
                <a:latin typeface="DM Sans"/>
                <a:ea typeface="DM Sans"/>
                <a:cs typeface="DM Sans"/>
                <a:sym typeface="DM Sans"/>
              </a:rPr>
              <a:t>              "name": "caliper slide service"</a:t>
            </a:r>
          </a:p>
          <a:p>
            <a:pPr algn="l">
              <a:lnSpc>
                <a:spcPts val="2622"/>
              </a:lnSpc>
            </a:pPr>
            <a:r>
              <a:rPr lang="en-US" sz="1900">
                <a:solidFill>
                  <a:srgbClr val="000000"/>
                </a:solidFill>
                <a:latin typeface="DM Sans"/>
                <a:ea typeface="DM Sans"/>
                <a:cs typeface="DM Sans"/>
                <a:sym typeface="DM Sans"/>
              </a:rPr>
              <a:t>            }</a:t>
            </a:r>
          </a:p>
          <a:p>
            <a:pPr algn="l">
              <a:lnSpc>
                <a:spcPts val="2622"/>
              </a:lnSpc>
            </a:pPr>
            <a:r>
              <a:rPr lang="en-US" sz="1900">
                <a:solidFill>
                  <a:srgbClr val="000000"/>
                </a:solidFill>
                <a:latin typeface="DM Sans"/>
                <a:ea typeface="DM Sans"/>
                <a:cs typeface="DM Sans"/>
                <a:sym typeface="DM Sans"/>
              </a:rPr>
              <a:t>          ]</a:t>
            </a:r>
          </a:p>
          <a:p>
            <a:pPr algn="l">
              <a:lnSpc>
                <a:spcPts val="2622"/>
              </a:lnSpc>
            </a:pPr>
            <a:r>
              <a:rPr lang="en-US" sz="1900">
                <a:solidFill>
                  <a:srgbClr val="000000"/>
                </a:solidFill>
                <a:latin typeface="DM Sans"/>
                <a:ea typeface="DM Sans"/>
                <a:cs typeface="DM Sans"/>
                <a:sym typeface="DM Sans"/>
              </a:rPr>
              <a:t>        }</a:t>
            </a:r>
          </a:p>
          <a:p>
            <a:pPr algn="l">
              <a:lnSpc>
                <a:spcPts val="2622"/>
              </a:lnSpc>
            </a:pPr>
            <a:r>
              <a:rPr lang="en-US" sz="1900">
                <a:solidFill>
                  <a:srgbClr val="000000"/>
                </a:solidFill>
                <a:latin typeface="DM Sans"/>
                <a:ea typeface="DM Sans"/>
                <a:cs typeface="DM Sans"/>
                <a:sym typeface="DM Sans"/>
              </a:rPr>
              <a:t>      ]</a:t>
            </a:r>
          </a:p>
          <a:p>
            <a:pPr algn="l">
              <a:lnSpc>
                <a:spcPts val="2622"/>
              </a:lnSpc>
            </a:pPr>
            <a:r>
              <a:rPr lang="en-US" sz="1900">
                <a:solidFill>
                  <a:srgbClr val="000000"/>
                </a:solidFill>
                <a:latin typeface="DM Sans"/>
                <a:ea typeface="DM Sans"/>
                <a:cs typeface="DM Sans"/>
                <a:sym typeface="DM Sans"/>
              </a:rPr>
              <a:t>    }</a:t>
            </a:r>
          </a:p>
          <a:p>
            <a:pPr algn="l">
              <a:lnSpc>
                <a:spcPts val="2622"/>
              </a:lnSpc>
            </a:pPr>
            <a:r>
              <a:rPr lang="en-US" sz="1900">
                <a:solidFill>
                  <a:srgbClr val="000000"/>
                </a:solidFill>
                <a:latin typeface="DM Sans"/>
                <a:ea typeface="DM Sans"/>
                <a:cs typeface="DM Sans"/>
                <a:sym typeface="DM Sans"/>
              </a:rPr>
              <a:t>  },</a:t>
            </a:r>
          </a:p>
          <a:p>
            <a:pPr algn="l">
              <a:lnSpc>
                <a:spcPts val="2622"/>
              </a:lnSpc>
            </a:pPr>
            <a:endParaRPr lang="en-US" sz="1900">
              <a:solidFill>
                <a:srgbClr val="000000"/>
              </a:solidFill>
              <a:latin typeface="DM Sans"/>
              <a:ea typeface="DM Sans"/>
              <a:cs typeface="DM Sans"/>
              <a:sym typeface="DM Sans"/>
            </a:endParaRPr>
          </a:p>
        </p:txBody>
      </p:sp>
      <p:sp>
        <p:nvSpPr>
          <p:cNvPr id="7" name="TextBox 7"/>
          <p:cNvSpPr txBox="1"/>
          <p:nvPr/>
        </p:nvSpPr>
        <p:spPr>
          <a:xfrm>
            <a:off x="1028700" y="524067"/>
            <a:ext cx="16230600" cy="1200785"/>
          </a:xfrm>
          <a:prstGeom prst="rect">
            <a:avLst/>
          </a:prstGeom>
        </p:spPr>
        <p:txBody>
          <a:bodyPr lIns="0" tIns="0" rIns="0" bIns="0" rtlCol="0" anchor="t">
            <a:spAutoFit/>
          </a:bodyPr>
          <a:lstStyle/>
          <a:p>
            <a:pPr algn="ctr">
              <a:lnSpc>
                <a:spcPts val="9520"/>
              </a:lnSpc>
            </a:pPr>
            <a:r>
              <a:rPr lang="en-US" sz="8000">
                <a:solidFill>
                  <a:srgbClr val="004AAD"/>
                </a:solidFill>
                <a:latin typeface="Anton"/>
                <a:ea typeface="Anton"/>
                <a:cs typeface="Anton"/>
                <a:sym typeface="Anton"/>
              </a:rPr>
              <a:t>INCOICE_DATA_FINAL.JSON</a:t>
            </a:r>
          </a:p>
        </p:txBody>
      </p:sp>
      <p:sp>
        <p:nvSpPr>
          <p:cNvPr id="8" name="TextBox 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5307739" y="1390256"/>
            <a:ext cx="14160284" cy="9665641"/>
          </a:xfrm>
          <a:prstGeom prst="rect">
            <a:avLst/>
          </a:prstGeom>
        </p:spPr>
      </p:pic>
      <p:sp>
        <p:nvSpPr>
          <p:cNvPr id="3" name="TextBox 3"/>
          <p:cNvSpPr txBox="1"/>
          <p:nvPr/>
        </p:nvSpPr>
        <p:spPr>
          <a:xfrm>
            <a:off x="1028700" y="1038225"/>
            <a:ext cx="16230600" cy="1200785"/>
          </a:xfrm>
          <a:prstGeom prst="rect">
            <a:avLst/>
          </a:prstGeom>
        </p:spPr>
        <p:txBody>
          <a:bodyPr lIns="0" tIns="0" rIns="0" bIns="0" rtlCol="0" anchor="t">
            <a:spAutoFit/>
          </a:bodyPr>
          <a:lstStyle/>
          <a:p>
            <a:pPr algn="ctr">
              <a:lnSpc>
                <a:spcPts val="9520"/>
              </a:lnSpc>
            </a:pPr>
            <a:r>
              <a:rPr lang="en-US" sz="8000">
                <a:solidFill>
                  <a:srgbClr val="004AAD"/>
                </a:solidFill>
                <a:latin typeface="Anton"/>
                <a:ea typeface="Anton"/>
                <a:cs typeface="Anton"/>
                <a:sym typeface="Anton"/>
              </a:rPr>
              <a:t>REPAIR MARKET ANALYSIS</a:t>
            </a:r>
          </a:p>
        </p:txBody>
      </p:sp>
      <p:sp>
        <p:nvSpPr>
          <p:cNvPr id="4" name="Freeform 4"/>
          <p:cNvSpPr/>
          <p:nvPr/>
        </p:nvSpPr>
        <p:spPr>
          <a:xfrm>
            <a:off x="14482573" y="333381"/>
            <a:ext cx="6352098" cy="1905629"/>
          </a:xfrm>
          <a:custGeom>
            <a:avLst/>
            <a:gdLst/>
            <a:ahLst/>
            <a:cxnLst/>
            <a:rect l="l" t="t" r="r" b="b"/>
            <a:pathLst>
              <a:path w="6352098" h="1905629">
                <a:moveTo>
                  <a:pt x="0" y="0"/>
                </a:moveTo>
                <a:lnTo>
                  <a:pt x="6352098" y="0"/>
                </a:lnTo>
                <a:lnTo>
                  <a:pt x="6352098" y="1905629"/>
                </a:lnTo>
                <a:lnTo>
                  <a:pt x="0" y="190562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2330915" y="333381"/>
            <a:ext cx="6352098" cy="1905629"/>
          </a:xfrm>
          <a:custGeom>
            <a:avLst/>
            <a:gdLst/>
            <a:ahLst/>
            <a:cxnLst/>
            <a:rect l="l" t="t" r="r" b="b"/>
            <a:pathLst>
              <a:path w="6352098" h="1905629">
                <a:moveTo>
                  <a:pt x="0" y="0"/>
                </a:moveTo>
                <a:lnTo>
                  <a:pt x="6352098" y="0"/>
                </a:lnTo>
                <a:lnTo>
                  <a:pt x="6352098" y="1905629"/>
                </a:lnTo>
                <a:lnTo>
                  <a:pt x="0" y="190562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TextBox 6"/>
          <p:cNvSpPr txBox="1"/>
          <p:nvPr/>
        </p:nvSpPr>
        <p:spPr>
          <a:xfrm>
            <a:off x="173621" y="2581274"/>
            <a:ext cx="6314142" cy="7277101"/>
          </a:xfrm>
          <a:prstGeom prst="rect">
            <a:avLst/>
          </a:prstGeom>
        </p:spPr>
        <p:txBody>
          <a:bodyPr lIns="0" tIns="0" rIns="0" bIns="0" rtlCol="0" anchor="t">
            <a:spAutoFit/>
          </a:bodyPr>
          <a:lstStyle/>
          <a:p>
            <a:pPr marL="539749" lvl="1" indent="-269875" algn="l">
              <a:lnSpc>
                <a:spcPts val="3449"/>
              </a:lnSpc>
              <a:buFont typeface="Arial"/>
              <a:buChar char="•"/>
            </a:pPr>
            <a:r>
              <a:rPr lang="en-US" sz="2499">
                <a:solidFill>
                  <a:srgbClr val="000000"/>
                </a:solidFill>
                <a:latin typeface="DM Sans"/>
                <a:ea typeface="DM Sans"/>
                <a:cs typeface="DM Sans"/>
                <a:sym typeface="DM Sans"/>
              </a:rPr>
              <a:t>This categorization of ~8,000 customer concerns into 12 standardized groups enables more accurate diagnosis, better trend analysis, and smarter repair recommendations.</a:t>
            </a:r>
          </a:p>
          <a:p>
            <a:pPr marL="539749" lvl="1" indent="-269875" algn="l">
              <a:lnSpc>
                <a:spcPts val="3449"/>
              </a:lnSpc>
              <a:buFont typeface="Arial"/>
              <a:buChar char="•"/>
            </a:pPr>
            <a:r>
              <a:rPr lang="en-US" sz="2499">
                <a:solidFill>
                  <a:srgbClr val="000000"/>
                </a:solidFill>
                <a:latin typeface="DM Sans"/>
                <a:ea typeface="DM Sans"/>
                <a:cs typeface="DM Sans"/>
                <a:sym typeface="DM Sans"/>
              </a:rPr>
              <a:t>The most frequently reported issues fall under “Oil &amp; Fluids”, “Brakes”, and “Engine &amp; Performance”, reflecting routine maintenance and common wear-and-tear concerns.</a:t>
            </a:r>
          </a:p>
          <a:p>
            <a:pPr marL="539749" lvl="1" indent="-269875" algn="l">
              <a:lnSpc>
                <a:spcPts val="3449"/>
              </a:lnSpc>
              <a:buFont typeface="Arial"/>
              <a:buChar char="•"/>
            </a:pPr>
            <a:r>
              <a:rPr lang="en-US" sz="2499">
                <a:solidFill>
                  <a:srgbClr val="000000"/>
                </a:solidFill>
                <a:latin typeface="DM Sans"/>
                <a:ea typeface="DM Sans"/>
                <a:cs typeface="DM Sans"/>
                <a:sym typeface="DM Sans"/>
              </a:rPr>
              <a:t>Less frequent categories like “Drivetrain / Transmission / Mounts” and “Doors, Windows, Locks” represent rare but high-impact problems, often linked to expensive repairs or safety-critical failures.</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5785199" y="1492281"/>
            <a:ext cx="13639420" cy="9630329"/>
          </a:xfrm>
          <a:prstGeom prst="rect">
            <a:avLst/>
          </a:prstGeom>
        </p:spPr>
      </p:pic>
      <p:sp>
        <p:nvSpPr>
          <p:cNvPr id="3" name="TextBox 3"/>
          <p:cNvSpPr txBox="1"/>
          <p:nvPr/>
        </p:nvSpPr>
        <p:spPr>
          <a:xfrm>
            <a:off x="1028700" y="1038225"/>
            <a:ext cx="16230600" cy="1200785"/>
          </a:xfrm>
          <a:prstGeom prst="rect">
            <a:avLst/>
          </a:prstGeom>
        </p:spPr>
        <p:txBody>
          <a:bodyPr lIns="0" tIns="0" rIns="0" bIns="0" rtlCol="0" anchor="t">
            <a:spAutoFit/>
          </a:bodyPr>
          <a:lstStyle/>
          <a:p>
            <a:pPr algn="ctr">
              <a:lnSpc>
                <a:spcPts val="9520"/>
              </a:lnSpc>
            </a:pPr>
            <a:r>
              <a:rPr lang="en-US" sz="8000">
                <a:solidFill>
                  <a:srgbClr val="004AAD"/>
                </a:solidFill>
                <a:latin typeface="Anton"/>
                <a:ea typeface="Anton"/>
                <a:cs typeface="Anton"/>
                <a:sym typeface="Anton"/>
              </a:rPr>
              <a:t>REPAIR MARKET ANALYSIS</a:t>
            </a:r>
          </a:p>
        </p:txBody>
      </p:sp>
      <p:sp>
        <p:nvSpPr>
          <p:cNvPr id="4" name="Freeform 4"/>
          <p:cNvSpPr/>
          <p:nvPr/>
        </p:nvSpPr>
        <p:spPr>
          <a:xfrm>
            <a:off x="14482573" y="333381"/>
            <a:ext cx="6352098" cy="1905629"/>
          </a:xfrm>
          <a:custGeom>
            <a:avLst/>
            <a:gdLst/>
            <a:ahLst/>
            <a:cxnLst/>
            <a:rect l="l" t="t" r="r" b="b"/>
            <a:pathLst>
              <a:path w="6352098" h="1905629">
                <a:moveTo>
                  <a:pt x="0" y="0"/>
                </a:moveTo>
                <a:lnTo>
                  <a:pt x="6352098" y="0"/>
                </a:lnTo>
                <a:lnTo>
                  <a:pt x="6352098" y="1905629"/>
                </a:lnTo>
                <a:lnTo>
                  <a:pt x="0" y="190562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2330915" y="333381"/>
            <a:ext cx="6352098" cy="1905629"/>
          </a:xfrm>
          <a:custGeom>
            <a:avLst/>
            <a:gdLst/>
            <a:ahLst/>
            <a:cxnLst/>
            <a:rect l="l" t="t" r="r" b="b"/>
            <a:pathLst>
              <a:path w="6352098" h="1905629">
                <a:moveTo>
                  <a:pt x="0" y="0"/>
                </a:moveTo>
                <a:lnTo>
                  <a:pt x="6352098" y="0"/>
                </a:lnTo>
                <a:lnTo>
                  <a:pt x="6352098" y="1905629"/>
                </a:lnTo>
                <a:lnTo>
                  <a:pt x="0" y="190562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TextBox 6"/>
          <p:cNvSpPr txBox="1"/>
          <p:nvPr/>
        </p:nvSpPr>
        <p:spPr>
          <a:xfrm>
            <a:off x="173621" y="2581274"/>
            <a:ext cx="6748195" cy="7277101"/>
          </a:xfrm>
          <a:prstGeom prst="rect">
            <a:avLst/>
          </a:prstGeom>
        </p:spPr>
        <p:txBody>
          <a:bodyPr lIns="0" tIns="0" rIns="0" bIns="0" rtlCol="0" anchor="t">
            <a:spAutoFit/>
          </a:bodyPr>
          <a:lstStyle/>
          <a:p>
            <a:pPr marL="539749" lvl="1" indent="-269875" algn="l">
              <a:lnSpc>
                <a:spcPts val="3449"/>
              </a:lnSpc>
              <a:buFont typeface="Arial"/>
              <a:buChar char="•"/>
            </a:pPr>
            <a:r>
              <a:rPr lang="en-US" sz="2499">
                <a:solidFill>
                  <a:srgbClr val="000000"/>
                </a:solidFill>
                <a:latin typeface="DM Sans"/>
                <a:ea typeface="DM Sans"/>
                <a:cs typeface="DM Sans"/>
                <a:sym typeface="DM Sans"/>
              </a:rPr>
              <a:t>Oil &amp; Fluids concerns dominate across all mileage ranges, especially peaking at 100k–150k miles, indicating routine maintenance remains critical throughout a vehicle’s life.</a:t>
            </a:r>
          </a:p>
          <a:p>
            <a:pPr marL="539749" lvl="1" indent="-269875" algn="l">
              <a:lnSpc>
                <a:spcPts val="3449"/>
              </a:lnSpc>
              <a:buFont typeface="Arial"/>
              <a:buChar char="•"/>
            </a:pPr>
            <a:r>
              <a:rPr lang="en-US" sz="2499">
                <a:solidFill>
                  <a:srgbClr val="000000"/>
                </a:solidFill>
                <a:latin typeface="DM Sans"/>
                <a:ea typeface="DM Sans"/>
                <a:cs typeface="DM Sans"/>
                <a:sym typeface="DM Sans"/>
              </a:rPr>
              <a:t>Brakes see a sharp rise from 0–100k miles, then gradually decline, reflecting typical brake wear and replacement cycles in early to mid vehicle life.</a:t>
            </a:r>
          </a:p>
          <a:p>
            <a:pPr marL="539749" lvl="1" indent="-269875" algn="l">
              <a:lnSpc>
                <a:spcPts val="3449"/>
              </a:lnSpc>
              <a:buFont typeface="Arial"/>
              <a:buChar char="•"/>
            </a:pPr>
            <a:r>
              <a:rPr lang="en-US" sz="2499">
                <a:solidFill>
                  <a:srgbClr val="000000"/>
                </a:solidFill>
                <a:latin typeface="DM Sans"/>
                <a:ea typeface="DM Sans"/>
                <a:cs typeface="DM Sans"/>
                <a:sym typeface="DM Sans"/>
              </a:rPr>
              <a:t>Suspension / Steering and Noise / Vibration peak at 100k–150k miles, signaling increased chassis and handling issues as vehicles age.</a:t>
            </a:r>
          </a:p>
          <a:p>
            <a:pPr marL="539749" lvl="1" indent="-269875" algn="l">
              <a:lnSpc>
                <a:spcPts val="3449"/>
              </a:lnSpc>
              <a:buFont typeface="Arial"/>
              <a:buChar char="•"/>
            </a:pPr>
            <a:r>
              <a:rPr lang="en-US" sz="2499">
                <a:solidFill>
                  <a:srgbClr val="000000"/>
                </a:solidFill>
                <a:latin typeface="DM Sans"/>
                <a:ea typeface="DM Sans"/>
                <a:cs typeface="DM Sans"/>
                <a:sym typeface="DM Sans"/>
              </a:rPr>
              <a:t>Engine &amp; Performance issues rise steadily and become significant after 100k miles, pointing to aging powertrain components needing diagnostics or major repairs.</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38225"/>
            <a:ext cx="16230600" cy="1200785"/>
          </a:xfrm>
          <a:prstGeom prst="rect">
            <a:avLst/>
          </a:prstGeom>
        </p:spPr>
        <p:txBody>
          <a:bodyPr lIns="0" tIns="0" rIns="0" bIns="0" rtlCol="0" anchor="t">
            <a:spAutoFit/>
          </a:bodyPr>
          <a:lstStyle/>
          <a:p>
            <a:pPr algn="ctr">
              <a:lnSpc>
                <a:spcPts val="9520"/>
              </a:lnSpc>
            </a:pPr>
            <a:r>
              <a:rPr lang="en-US" sz="8000">
                <a:solidFill>
                  <a:srgbClr val="004AAD"/>
                </a:solidFill>
                <a:latin typeface="Anton"/>
                <a:ea typeface="Anton"/>
                <a:cs typeface="Anton"/>
                <a:sym typeface="Anton"/>
              </a:rPr>
              <a:t>RECOMMENDATION MODEL</a:t>
            </a:r>
          </a:p>
        </p:txBody>
      </p:sp>
      <p:sp>
        <p:nvSpPr>
          <p:cNvPr id="3" name="TextBox 3"/>
          <p:cNvSpPr txBox="1"/>
          <p:nvPr/>
        </p:nvSpPr>
        <p:spPr>
          <a:xfrm>
            <a:off x="1649247" y="2191385"/>
            <a:ext cx="15336749" cy="7705726"/>
          </a:xfrm>
          <a:prstGeom prst="rect">
            <a:avLst/>
          </a:prstGeom>
        </p:spPr>
        <p:txBody>
          <a:bodyPr lIns="0" tIns="0" rIns="0" bIns="0" rtlCol="0" anchor="t">
            <a:spAutoFit/>
          </a:bodyPr>
          <a:lstStyle/>
          <a:p>
            <a:pPr algn="l">
              <a:lnSpc>
                <a:spcPts val="3449"/>
              </a:lnSpc>
            </a:pPr>
            <a:r>
              <a:rPr lang="en-US" sz="2499" b="1">
                <a:solidFill>
                  <a:srgbClr val="000000"/>
                </a:solidFill>
                <a:latin typeface="DM Sans Bold"/>
                <a:ea typeface="DM Sans Bold"/>
                <a:cs typeface="DM Sans Bold"/>
                <a:sym typeface="DM Sans Bold"/>
              </a:rPr>
              <a:t>Data Processing:</a:t>
            </a:r>
          </a:p>
          <a:p>
            <a:pPr marL="539749" lvl="1" indent="-269875" algn="l">
              <a:lnSpc>
                <a:spcPts val="3449"/>
              </a:lnSpc>
              <a:buFont typeface="Arial"/>
              <a:buChar char="•"/>
            </a:pPr>
            <a:r>
              <a:rPr lang="en-US" sz="2499">
                <a:solidFill>
                  <a:srgbClr val="000000"/>
                </a:solidFill>
                <a:latin typeface="DM Sans"/>
                <a:ea typeface="DM Sans"/>
                <a:cs typeface="DM Sans"/>
                <a:sym typeface="DM Sans"/>
              </a:rPr>
              <a:t>Extracted structured repair data including vehicle info, customer concerns, labor descriptions, part names, and part-level costs.</a:t>
            </a:r>
          </a:p>
          <a:p>
            <a:pPr marL="539749" lvl="1" indent="-269875" algn="l">
              <a:lnSpc>
                <a:spcPts val="3449"/>
              </a:lnSpc>
              <a:buFont typeface="Arial"/>
              <a:buChar char="•"/>
            </a:pPr>
            <a:r>
              <a:rPr lang="en-US" sz="2499">
                <a:solidFill>
                  <a:srgbClr val="000000"/>
                </a:solidFill>
                <a:latin typeface="DM Sans"/>
                <a:ea typeface="DM Sans"/>
                <a:cs typeface="DM Sans"/>
                <a:sym typeface="DM Sans"/>
              </a:rPr>
              <a:t>Cleaned and normalized part names (e.g., removed codes, vendor noise) for consistency.</a:t>
            </a:r>
          </a:p>
          <a:p>
            <a:pPr marL="539749" lvl="1" indent="-269875" algn="l">
              <a:lnSpc>
                <a:spcPts val="3449"/>
              </a:lnSpc>
              <a:buFont typeface="Arial"/>
              <a:buChar char="•"/>
            </a:pPr>
            <a:r>
              <a:rPr lang="en-US" sz="2499">
                <a:solidFill>
                  <a:srgbClr val="000000"/>
                </a:solidFill>
                <a:latin typeface="DM Sans"/>
                <a:ea typeface="DM Sans"/>
                <a:cs typeface="DM Sans"/>
                <a:sym typeface="DM Sans"/>
              </a:rPr>
              <a:t>Converted abbreviated labor descriptions (e.g., rr, fr) to user-friendly format (e.g., Rear, Front).</a:t>
            </a:r>
          </a:p>
          <a:p>
            <a:pPr algn="l">
              <a:lnSpc>
                <a:spcPts val="3449"/>
              </a:lnSpc>
            </a:pPr>
            <a:endParaRPr lang="en-US" sz="2499">
              <a:solidFill>
                <a:srgbClr val="000000"/>
              </a:solidFill>
              <a:latin typeface="DM Sans"/>
              <a:ea typeface="DM Sans"/>
              <a:cs typeface="DM Sans"/>
              <a:sym typeface="DM Sans"/>
            </a:endParaRPr>
          </a:p>
          <a:p>
            <a:pPr algn="l">
              <a:lnSpc>
                <a:spcPts val="3449"/>
              </a:lnSpc>
            </a:pPr>
            <a:r>
              <a:rPr lang="en-US" sz="2499" b="1">
                <a:solidFill>
                  <a:srgbClr val="000000"/>
                </a:solidFill>
                <a:latin typeface="DM Sans Bold"/>
                <a:ea typeface="DM Sans Bold"/>
                <a:cs typeface="DM Sans Bold"/>
                <a:sym typeface="DM Sans Bold"/>
              </a:rPr>
              <a:t>Embedding &amp; Similarity Matching:</a:t>
            </a:r>
          </a:p>
          <a:p>
            <a:pPr marL="539749" lvl="1" indent="-269875" algn="l">
              <a:lnSpc>
                <a:spcPts val="3449"/>
              </a:lnSpc>
              <a:buFont typeface="Arial"/>
              <a:buChar char="•"/>
            </a:pPr>
            <a:r>
              <a:rPr lang="en-US" sz="2499">
                <a:solidFill>
                  <a:srgbClr val="000000"/>
                </a:solidFill>
                <a:latin typeface="DM Sans"/>
                <a:ea typeface="DM Sans"/>
                <a:cs typeface="DM Sans"/>
                <a:sym typeface="DM Sans"/>
              </a:rPr>
              <a:t>Used SentenceTransformer (all-mpnet-base-v2) for semantic embeddings.</a:t>
            </a:r>
          </a:p>
          <a:p>
            <a:pPr marL="539749" lvl="1" indent="-269875" algn="l">
              <a:lnSpc>
                <a:spcPts val="3449"/>
              </a:lnSpc>
              <a:buFont typeface="Arial"/>
              <a:buChar char="•"/>
            </a:pPr>
            <a:r>
              <a:rPr lang="en-US" sz="2499">
                <a:solidFill>
                  <a:srgbClr val="000000"/>
                </a:solidFill>
                <a:latin typeface="DM Sans"/>
                <a:ea typeface="DM Sans"/>
                <a:cs typeface="DM Sans"/>
                <a:sym typeface="DM Sans"/>
              </a:rPr>
              <a:t>Encoded customer concerns into vector space for similarity search.</a:t>
            </a:r>
          </a:p>
          <a:p>
            <a:pPr marL="539749" lvl="1" indent="-269875" algn="l">
              <a:lnSpc>
                <a:spcPts val="3449"/>
              </a:lnSpc>
              <a:buFont typeface="Arial"/>
              <a:buChar char="•"/>
            </a:pPr>
            <a:r>
              <a:rPr lang="en-US" sz="2499">
                <a:solidFill>
                  <a:srgbClr val="000000"/>
                </a:solidFill>
                <a:latin typeface="DM Sans"/>
                <a:ea typeface="DM Sans"/>
                <a:cs typeface="DM Sans"/>
                <a:sym typeface="DM Sans"/>
              </a:rPr>
              <a:t>Applied cosine similarity to find top historical matches filtered by vehicle make and model.</a:t>
            </a:r>
          </a:p>
          <a:p>
            <a:pPr algn="l">
              <a:lnSpc>
                <a:spcPts val="3449"/>
              </a:lnSpc>
            </a:pPr>
            <a:endParaRPr lang="en-US" sz="2499">
              <a:solidFill>
                <a:srgbClr val="000000"/>
              </a:solidFill>
              <a:latin typeface="DM Sans"/>
              <a:ea typeface="DM Sans"/>
              <a:cs typeface="DM Sans"/>
              <a:sym typeface="DM Sans"/>
            </a:endParaRPr>
          </a:p>
          <a:p>
            <a:pPr algn="l">
              <a:lnSpc>
                <a:spcPts val="3449"/>
              </a:lnSpc>
            </a:pPr>
            <a:r>
              <a:rPr lang="en-US" sz="2499" b="1">
                <a:solidFill>
                  <a:srgbClr val="000000"/>
                </a:solidFill>
                <a:latin typeface="DM Sans Bold"/>
                <a:ea typeface="DM Sans Bold"/>
                <a:cs typeface="DM Sans Bold"/>
                <a:sym typeface="DM Sans Bold"/>
              </a:rPr>
              <a:t>Recommendation Engine:</a:t>
            </a:r>
          </a:p>
          <a:p>
            <a:pPr marL="539749" lvl="1" indent="-269875" algn="l">
              <a:lnSpc>
                <a:spcPts val="3449"/>
              </a:lnSpc>
              <a:buFont typeface="Arial"/>
              <a:buChar char="•"/>
            </a:pPr>
            <a:r>
              <a:rPr lang="en-US" sz="2499">
                <a:solidFill>
                  <a:srgbClr val="000000"/>
                </a:solidFill>
                <a:latin typeface="DM Sans"/>
                <a:ea typeface="DM Sans"/>
                <a:cs typeface="DM Sans"/>
                <a:sym typeface="DM Sans"/>
              </a:rPr>
              <a:t>Identifies top 3 repairs based on most frequent similar concerns.</a:t>
            </a:r>
          </a:p>
          <a:p>
            <a:pPr marL="539749" lvl="1" indent="-269875" algn="l">
              <a:lnSpc>
                <a:spcPts val="3449"/>
              </a:lnSpc>
              <a:buFont typeface="Arial"/>
              <a:buChar char="•"/>
            </a:pPr>
            <a:r>
              <a:rPr lang="en-US" sz="2499">
                <a:solidFill>
                  <a:srgbClr val="000000"/>
                </a:solidFill>
                <a:latin typeface="DM Sans"/>
                <a:ea typeface="DM Sans"/>
                <a:cs typeface="DM Sans"/>
                <a:sym typeface="DM Sans"/>
              </a:rPr>
              <a:t>Aggregates average labor time (± std) from historical matches.</a:t>
            </a:r>
          </a:p>
          <a:p>
            <a:pPr marL="539749" lvl="1" indent="-269875" algn="l">
              <a:lnSpc>
                <a:spcPts val="3449"/>
              </a:lnSpc>
              <a:buFont typeface="Arial"/>
              <a:buChar char="•"/>
            </a:pPr>
            <a:r>
              <a:rPr lang="en-US" sz="2499">
                <a:solidFill>
                  <a:srgbClr val="000000"/>
                </a:solidFill>
                <a:latin typeface="DM Sans"/>
                <a:ea typeface="DM Sans"/>
                <a:cs typeface="DM Sans"/>
                <a:sym typeface="DM Sans"/>
              </a:rPr>
              <a:t>Surfaces top 3 parts per repair, with:</a:t>
            </a:r>
          </a:p>
          <a:p>
            <a:pPr marL="1079499" lvl="2" indent="-359833" algn="l">
              <a:lnSpc>
                <a:spcPts val="3449"/>
              </a:lnSpc>
              <a:buFont typeface="Arial"/>
              <a:buChar char="⚬"/>
            </a:pPr>
            <a:r>
              <a:rPr lang="en-US" sz="2499">
                <a:solidFill>
                  <a:srgbClr val="000000"/>
                </a:solidFill>
                <a:latin typeface="DM Sans"/>
                <a:ea typeface="DM Sans"/>
                <a:cs typeface="DM Sans"/>
                <a:sym typeface="DM Sans"/>
              </a:rPr>
              <a:t>Confidence % (based on usage frequency)</a:t>
            </a:r>
          </a:p>
          <a:p>
            <a:pPr marL="1079499" lvl="2" indent="-359833" algn="l">
              <a:lnSpc>
                <a:spcPts val="3449"/>
              </a:lnSpc>
              <a:buFont typeface="Arial"/>
              <a:buChar char="⚬"/>
            </a:pPr>
            <a:r>
              <a:rPr lang="en-US" sz="2499">
                <a:solidFill>
                  <a:srgbClr val="000000"/>
                </a:solidFill>
                <a:latin typeface="DM Sans"/>
                <a:ea typeface="DM Sans"/>
                <a:cs typeface="DM Sans"/>
                <a:sym typeface="DM Sans"/>
              </a:rPr>
              <a:t>Average Cost (directly pulled from part-level cost)</a:t>
            </a:r>
          </a:p>
          <a:p>
            <a:pPr marL="539749" lvl="1" indent="-269875" algn="l">
              <a:lnSpc>
                <a:spcPts val="3449"/>
              </a:lnSpc>
              <a:buFont typeface="Arial"/>
              <a:buChar char="•"/>
            </a:pPr>
            <a:r>
              <a:rPr lang="en-US" sz="2499">
                <a:solidFill>
                  <a:srgbClr val="000000"/>
                </a:solidFill>
                <a:latin typeface="DM Sans"/>
                <a:ea typeface="DM Sans"/>
                <a:cs typeface="DM Sans"/>
                <a:sym typeface="DM Sans"/>
              </a:rPr>
              <a:t>Filters out noisy jobs (e.g., diagnostic fee) to avoid non-actionable suggestions.</a:t>
            </a:r>
          </a:p>
        </p:txBody>
      </p:sp>
      <p:sp>
        <p:nvSpPr>
          <p:cNvPr id="4" name="Freeform 4"/>
          <p:cNvSpPr/>
          <p:nvPr/>
        </p:nvSpPr>
        <p:spPr>
          <a:xfrm>
            <a:off x="-2330915" y="333381"/>
            <a:ext cx="6352098" cy="1905629"/>
          </a:xfrm>
          <a:custGeom>
            <a:avLst/>
            <a:gdLst/>
            <a:ahLst/>
            <a:cxnLst/>
            <a:rect l="l" t="t" r="r" b="b"/>
            <a:pathLst>
              <a:path w="6352098" h="1905629">
                <a:moveTo>
                  <a:pt x="0" y="0"/>
                </a:moveTo>
                <a:lnTo>
                  <a:pt x="6352098" y="0"/>
                </a:lnTo>
                <a:lnTo>
                  <a:pt x="6352098" y="1905629"/>
                </a:lnTo>
                <a:lnTo>
                  <a:pt x="0" y="19056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4482573" y="333381"/>
            <a:ext cx="6352098" cy="1905629"/>
          </a:xfrm>
          <a:custGeom>
            <a:avLst/>
            <a:gdLst/>
            <a:ahLst/>
            <a:cxnLst/>
            <a:rect l="l" t="t" r="r" b="b"/>
            <a:pathLst>
              <a:path w="6352098" h="1905629">
                <a:moveTo>
                  <a:pt x="0" y="0"/>
                </a:moveTo>
                <a:lnTo>
                  <a:pt x="6352098" y="0"/>
                </a:lnTo>
                <a:lnTo>
                  <a:pt x="6352098" y="1905629"/>
                </a:lnTo>
                <a:lnTo>
                  <a:pt x="0" y="19056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38225"/>
            <a:ext cx="16230600" cy="1200785"/>
          </a:xfrm>
          <a:prstGeom prst="rect">
            <a:avLst/>
          </a:prstGeom>
        </p:spPr>
        <p:txBody>
          <a:bodyPr lIns="0" tIns="0" rIns="0" bIns="0" rtlCol="0" anchor="t">
            <a:spAutoFit/>
          </a:bodyPr>
          <a:lstStyle/>
          <a:p>
            <a:pPr algn="ctr">
              <a:lnSpc>
                <a:spcPts val="9520"/>
              </a:lnSpc>
            </a:pPr>
            <a:r>
              <a:rPr lang="en-US" sz="8000">
                <a:solidFill>
                  <a:srgbClr val="004AAD"/>
                </a:solidFill>
                <a:latin typeface="Anton"/>
                <a:ea typeface="Anton"/>
                <a:cs typeface="Anton"/>
                <a:sym typeface="Anton"/>
              </a:rPr>
              <a:t>PROTOTYPE CHATFLOW</a:t>
            </a:r>
          </a:p>
        </p:txBody>
      </p:sp>
      <p:sp>
        <p:nvSpPr>
          <p:cNvPr id="3" name="Freeform 3"/>
          <p:cNvSpPr/>
          <p:nvPr/>
        </p:nvSpPr>
        <p:spPr>
          <a:xfrm>
            <a:off x="-2330915" y="333381"/>
            <a:ext cx="6352098" cy="1905629"/>
          </a:xfrm>
          <a:custGeom>
            <a:avLst/>
            <a:gdLst/>
            <a:ahLst/>
            <a:cxnLst/>
            <a:rect l="l" t="t" r="r" b="b"/>
            <a:pathLst>
              <a:path w="6352098" h="1905629">
                <a:moveTo>
                  <a:pt x="0" y="0"/>
                </a:moveTo>
                <a:lnTo>
                  <a:pt x="6352098" y="0"/>
                </a:lnTo>
                <a:lnTo>
                  <a:pt x="6352098" y="1905629"/>
                </a:lnTo>
                <a:lnTo>
                  <a:pt x="0" y="190562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4482573" y="333381"/>
            <a:ext cx="6352098" cy="1905629"/>
          </a:xfrm>
          <a:custGeom>
            <a:avLst/>
            <a:gdLst/>
            <a:ahLst/>
            <a:cxnLst/>
            <a:rect l="l" t="t" r="r" b="b"/>
            <a:pathLst>
              <a:path w="6352098" h="1905629">
                <a:moveTo>
                  <a:pt x="0" y="0"/>
                </a:moveTo>
                <a:lnTo>
                  <a:pt x="6352098" y="0"/>
                </a:lnTo>
                <a:lnTo>
                  <a:pt x="6352098" y="1905629"/>
                </a:lnTo>
                <a:lnTo>
                  <a:pt x="0" y="19056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a:off x="309247" y="3515711"/>
            <a:ext cx="17669506" cy="5742589"/>
          </a:xfrm>
          <a:custGeom>
            <a:avLst/>
            <a:gdLst/>
            <a:ahLst/>
            <a:cxnLst/>
            <a:rect l="l" t="t" r="r" b="b"/>
            <a:pathLst>
              <a:path w="17669506" h="5742589">
                <a:moveTo>
                  <a:pt x="0" y="0"/>
                </a:moveTo>
                <a:lnTo>
                  <a:pt x="17669506" y="0"/>
                </a:lnTo>
                <a:lnTo>
                  <a:pt x="17669506" y="5742589"/>
                </a:lnTo>
                <a:lnTo>
                  <a:pt x="0" y="5742589"/>
                </a:lnTo>
                <a:lnTo>
                  <a:pt x="0" y="0"/>
                </a:lnTo>
                <a:close/>
              </a:path>
            </a:pathLst>
          </a:custGeom>
          <a:blipFill>
            <a:blip r:embed="rId6"/>
            <a:stretch>
              <a:fillRect/>
            </a:stretch>
          </a:blipFill>
          <a:ln w="38100" cap="sq">
            <a:solidFill>
              <a:srgbClr val="000000"/>
            </a:solidFill>
            <a:prstDash val="solid"/>
            <a:miter/>
          </a:ln>
        </p:spPr>
        <p:txBody>
          <a:bodyPr/>
          <a:lstStyle/>
          <a:p>
            <a:endParaRPr lang="en-US"/>
          </a:p>
        </p:txBody>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4AAD"/>
                </a:solidFill>
                <a:latin typeface="Canva Sans"/>
                <a:ea typeface="Canva Sans"/>
                <a:cs typeface="Canva Sans"/>
                <a:sym typeface="Canva San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41857" y="2413888"/>
            <a:ext cx="13804286" cy="1760047"/>
          </a:xfrm>
          <a:custGeom>
            <a:avLst/>
            <a:gdLst/>
            <a:ahLst/>
            <a:cxnLst/>
            <a:rect l="l" t="t" r="r" b="b"/>
            <a:pathLst>
              <a:path w="13804286" h="1760047">
                <a:moveTo>
                  <a:pt x="0" y="0"/>
                </a:moveTo>
                <a:lnTo>
                  <a:pt x="13804286" y="0"/>
                </a:lnTo>
                <a:lnTo>
                  <a:pt x="13804286" y="1760047"/>
                </a:lnTo>
                <a:lnTo>
                  <a:pt x="0" y="1760047"/>
                </a:lnTo>
                <a:lnTo>
                  <a:pt x="0" y="0"/>
                </a:lnTo>
                <a:close/>
              </a:path>
            </a:pathLst>
          </a:custGeom>
          <a:blipFill>
            <a:blip r:embed="rId2"/>
            <a:stretch>
              <a:fillRect/>
            </a:stretch>
          </a:blipFill>
          <a:ln w="38100" cap="sq">
            <a:solidFill>
              <a:srgbClr val="000000"/>
            </a:solidFill>
            <a:prstDash val="solid"/>
            <a:miter/>
          </a:ln>
        </p:spPr>
        <p:txBody>
          <a:bodyPr/>
          <a:lstStyle/>
          <a:p>
            <a:endParaRPr lang="en-US"/>
          </a:p>
        </p:txBody>
      </p:sp>
      <p:sp>
        <p:nvSpPr>
          <p:cNvPr id="3" name="Freeform 3"/>
          <p:cNvSpPr/>
          <p:nvPr/>
        </p:nvSpPr>
        <p:spPr>
          <a:xfrm>
            <a:off x="2241857" y="5316935"/>
            <a:ext cx="10322299" cy="1780597"/>
          </a:xfrm>
          <a:custGeom>
            <a:avLst/>
            <a:gdLst/>
            <a:ahLst/>
            <a:cxnLst/>
            <a:rect l="l" t="t" r="r" b="b"/>
            <a:pathLst>
              <a:path w="10322299" h="1780597">
                <a:moveTo>
                  <a:pt x="0" y="0"/>
                </a:moveTo>
                <a:lnTo>
                  <a:pt x="10322299" y="0"/>
                </a:lnTo>
                <a:lnTo>
                  <a:pt x="10322299" y="1780597"/>
                </a:lnTo>
                <a:lnTo>
                  <a:pt x="0" y="1780597"/>
                </a:lnTo>
                <a:lnTo>
                  <a:pt x="0" y="0"/>
                </a:lnTo>
                <a:close/>
              </a:path>
            </a:pathLst>
          </a:custGeom>
          <a:blipFill>
            <a:blip r:embed="rId3"/>
            <a:stretch>
              <a:fillRect/>
            </a:stretch>
          </a:blipFill>
          <a:ln w="38100" cap="sq">
            <a:solidFill>
              <a:srgbClr val="000000"/>
            </a:solidFill>
            <a:prstDash val="solid"/>
            <a:miter/>
          </a:ln>
        </p:spPr>
        <p:txBody>
          <a:bodyPr/>
          <a:lstStyle/>
          <a:p>
            <a:endParaRPr lang="en-US"/>
          </a:p>
        </p:txBody>
      </p:sp>
      <p:sp>
        <p:nvSpPr>
          <p:cNvPr id="4" name="Freeform 4"/>
          <p:cNvSpPr/>
          <p:nvPr/>
        </p:nvSpPr>
        <p:spPr>
          <a:xfrm>
            <a:off x="2241857" y="8240532"/>
            <a:ext cx="10322299" cy="1458025"/>
          </a:xfrm>
          <a:custGeom>
            <a:avLst/>
            <a:gdLst/>
            <a:ahLst/>
            <a:cxnLst/>
            <a:rect l="l" t="t" r="r" b="b"/>
            <a:pathLst>
              <a:path w="10322299" h="1458025">
                <a:moveTo>
                  <a:pt x="0" y="0"/>
                </a:moveTo>
                <a:lnTo>
                  <a:pt x="10322299" y="0"/>
                </a:lnTo>
                <a:lnTo>
                  <a:pt x="10322299" y="1458025"/>
                </a:lnTo>
                <a:lnTo>
                  <a:pt x="0" y="1458025"/>
                </a:lnTo>
                <a:lnTo>
                  <a:pt x="0" y="0"/>
                </a:lnTo>
                <a:close/>
              </a:path>
            </a:pathLst>
          </a:custGeom>
          <a:blipFill>
            <a:blip r:embed="rId4"/>
            <a:stretch>
              <a:fillRect/>
            </a:stretch>
          </a:blipFill>
          <a:ln w="38100" cap="sq">
            <a:solidFill>
              <a:srgbClr val="000000"/>
            </a:solidFill>
            <a:prstDash val="solid"/>
            <a:miter/>
          </a:ln>
        </p:spPr>
        <p:txBody>
          <a:bodyPr/>
          <a:lstStyle/>
          <a:p>
            <a:endParaRPr lang="en-US"/>
          </a:p>
        </p:txBody>
      </p:sp>
      <p:sp>
        <p:nvSpPr>
          <p:cNvPr id="5" name="TextBox 5"/>
          <p:cNvSpPr txBox="1"/>
          <p:nvPr/>
        </p:nvSpPr>
        <p:spPr>
          <a:xfrm>
            <a:off x="651002" y="540818"/>
            <a:ext cx="16985996" cy="1704975"/>
          </a:xfrm>
          <a:prstGeom prst="rect">
            <a:avLst/>
          </a:prstGeom>
        </p:spPr>
        <p:txBody>
          <a:bodyPr lIns="0" tIns="0" rIns="0" bIns="0" rtlCol="0" anchor="t">
            <a:spAutoFit/>
          </a:bodyPr>
          <a:lstStyle/>
          <a:p>
            <a:pPr algn="l">
              <a:lnSpc>
                <a:spcPts val="3449"/>
              </a:lnSpc>
            </a:pPr>
            <a:r>
              <a:rPr lang="en-US" sz="2499" b="1">
                <a:solidFill>
                  <a:srgbClr val="000000"/>
                </a:solidFill>
                <a:latin typeface="DM Sans Bold"/>
                <a:ea typeface="DM Sans Bold"/>
                <a:cs typeface="DM Sans Bold"/>
                <a:sym typeface="DM Sans Bold"/>
              </a:rPr>
              <a:t>Application Feature 1: Smart Repair Recommendations</a:t>
            </a:r>
          </a:p>
          <a:p>
            <a:pPr marL="539749" lvl="1" indent="-269875" algn="l">
              <a:lnSpc>
                <a:spcPts val="3449"/>
              </a:lnSpc>
              <a:buFont typeface="Arial"/>
              <a:buChar char="•"/>
            </a:pPr>
            <a:r>
              <a:rPr lang="en-US" sz="2499">
                <a:solidFill>
                  <a:srgbClr val="000000"/>
                </a:solidFill>
                <a:latin typeface="DM Sans"/>
                <a:ea typeface="DM Sans"/>
                <a:cs typeface="DM Sans"/>
                <a:sym typeface="DM Sans"/>
              </a:rPr>
              <a:t>My engine is making a weird noise. What should I get checked?</a:t>
            </a:r>
          </a:p>
          <a:p>
            <a:pPr marL="539749" lvl="1" indent="-269875" algn="l">
              <a:lnSpc>
                <a:spcPts val="3449"/>
              </a:lnSpc>
              <a:buFont typeface="Arial"/>
              <a:buChar char="•"/>
            </a:pPr>
            <a:r>
              <a:rPr lang="en-US" sz="2499">
                <a:solidFill>
                  <a:srgbClr val="000000"/>
                </a:solidFill>
                <a:latin typeface="DM Sans"/>
                <a:ea typeface="DM Sans"/>
                <a:cs typeface="DM Sans"/>
                <a:sym typeface="DM Sans"/>
              </a:rPr>
              <a:t>How much will it cost to fix my car?</a:t>
            </a:r>
          </a:p>
          <a:p>
            <a:pPr marL="539749" lvl="1" indent="-269875" algn="l">
              <a:lnSpc>
                <a:spcPts val="3449"/>
              </a:lnSpc>
              <a:buFont typeface="Arial"/>
              <a:buChar char="•"/>
            </a:pPr>
            <a:r>
              <a:rPr lang="en-US" sz="2499">
                <a:solidFill>
                  <a:srgbClr val="000000"/>
                </a:solidFill>
                <a:latin typeface="DM Sans"/>
                <a:ea typeface="DM Sans"/>
                <a:cs typeface="DM Sans"/>
                <a:sym typeface="DM Sans"/>
              </a:rPr>
              <a:t>How long will it take to fix my car?</a:t>
            </a:r>
          </a:p>
        </p:txBody>
      </p:sp>
      <p:sp>
        <p:nvSpPr>
          <p:cNvPr id="6" name="TextBox 6"/>
          <p:cNvSpPr txBox="1"/>
          <p:nvPr/>
        </p:nvSpPr>
        <p:spPr>
          <a:xfrm>
            <a:off x="651002" y="4297760"/>
            <a:ext cx="16985996" cy="847725"/>
          </a:xfrm>
          <a:prstGeom prst="rect">
            <a:avLst/>
          </a:prstGeom>
        </p:spPr>
        <p:txBody>
          <a:bodyPr lIns="0" tIns="0" rIns="0" bIns="0" rtlCol="0" anchor="t">
            <a:spAutoFit/>
          </a:bodyPr>
          <a:lstStyle/>
          <a:p>
            <a:pPr algn="l">
              <a:lnSpc>
                <a:spcPts val="3449"/>
              </a:lnSpc>
            </a:pPr>
            <a:r>
              <a:rPr lang="en-US" sz="2499" b="1">
                <a:solidFill>
                  <a:srgbClr val="000000"/>
                </a:solidFill>
                <a:latin typeface="DM Sans Bold"/>
                <a:ea typeface="DM Sans Bold"/>
                <a:cs typeface="DM Sans Bold"/>
                <a:sym typeface="DM Sans Bold"/>
              </a:rPr>
              <a:t>Application Feature 2: Repair History Lookup</a:t>
            </a:r>
          </a:p>
          <a:p>
            <a:pPr marL="539749" lvl="1" indent="-269875" algn="l">
              <a:lnSpc>
                <a:spcPts val="3449"/>
              </a:lnSpc>
              <a:buFont typeface="Arial"/>
              <a:buChar char="•"/>
            </a:pPr>
            <a:r>
              <a:rPr lang="en-US" sz="2499">
                <a:solidFill>
                  <a:srgbClr val="000000"/>
                </a:solidFill>
                <a:latin typeface="DM Sans"/>
                <a:ea typeface="DM Sans"/>
                <a:cs typeface="DM Sans"/>
                <a:sym typeface="DM Sans"/>
              </a:rPr>
              <a:t>Can you pull up the past repair history for my vehicle?</a:t>
            </a:r>
          </a:p>
        </p:txBody>
      </p:sp>
      <p:sp>
        <p:nvSpPr>
          <p:cNvPr id="7" name="TextBox 7"/>
          <p:cNvSpPr txBox="1"/>
          <p:nvPr/>
        </p:nvSpPr>
        <p:spPr>
          <a:xfrm>
            <a:off x="651002" y="7221357"/>
            <a:ext cx="16985996" cy="847725"/>
          </a:xfrm>
          <a:prstGeom prst="rect">
            <a:avLst/>
          </a:prstGeom>
        </p:spPr>
        <p:txBody>
          <a:bodyPr lIns="0" tIns="0" rIns="0" bIns="0" rtlCol="0" anchor="t">
            <a:spAutoFit/>
          </a:bodyPr>
          <a:lstStyle/>
          <a:p>
            <a:pPr algn="l">
              <a:lnSpc>
                <a:spcPts val="3449"/>
              </a:lnSpc>
            </a:pPr>
            <a:r>
              <a:rPr lang="en-US" sz="2499" b="1">
                <a:solidFill>
                  <a:srgbClr val="000000"/>
                </a:solidFill>
                <a:latin typeface="DM Sans Bold"/>
                <a:ea typeface="DM Sans Bold"/>
                <a:cs typeface="DM Sans Bold"/>
                <a:sym typeface="DM Sans Bold"/>
              </a:rPr>
              <a:t>Application Feature 3: Vehicle Info &amp; Manufacturer Insights</a:t>
            </a:r>
          </a:p>
          <a:p>
            <a:pPr marL="539749" lvl="1" indent="-269875" algn="l">
              <a:lnSpc>
                <a:spcPts val="3449"/>
              </a:lnSpc>
              <a:buFont typeface="Arial"/>
              <a:buChar char="•"/>
            </a:pPr>
            <a:r>
              <a:rPr lang="en-US" sz="2499">
                <a:solidFill>
                  <a:srgbClr val="000000"/>
                </a:solidFill>
                <a:latin typeface="DM Sans"/>
                <a:ea typeface="DM Sans"/>
                <a:cs typeface="DM Sans"/>
                <a:sym typeface="DM Sans"/>
              </a:rPr>
              <a:t>Can you tell me about the new Tesla Cybertruck?</a:t>
            </a:r>
          </a:p>
        </p:txBody>
      </p:sp>
      <p:sp>
        <p:nvSpPr>
          <p:cNvPr id="8" name="Freeform 8"/>
          <p:cNvSpPr/>
          <p:nvPr/>
        </p:nvSpPr>
        <p:spPr>
          <a:xfrm>
            <a:off x="14014591" y="4351495"/>
            <a:ext cx="6489418" cy="6609592"/>
          </a:xfrm>
          <a:custGeom>
            <a:avLst/>
            <a:gdLst/>
            <a:ahLst/>
            <a:cxnLst/>
            <a:rect l="l" t="t" r="r" b="b"/>
            <a:pathLst>
              <a:path w="6489418" h="6609592">
                <a:moveTo>
                  <a:pt x="0" y="0"/>
                </a:moveTo>
                <a:lnTo>
                  <a:pt x="6489418" y="0"/>
                </a:lnTo>
                <a:lnTo>
                  <a:pt x="6489418" y="6609593"/>
                </a:lnTo>
                <a:lnTo>
                  <a:pt x="0" y="660959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TextBox 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98792" y="2002504"/>
            <a:ext cx="8345208" cy="8126147"/>
          </a:xfrm>
          <a:custGeom>
            <a:avLst/>
            <a:gdLst/>
            <a:ahLst/>
            <a:cxnLst/>
            <a:rect l="l" t="t" r="r" b="b"/>
            <a:pathLst>
              <a:path w="8345208" h="8126147">
                <a:moveTo>
                  <a:pt x="0" y="0"/>
                </a:moveTo>
                <a:lnTo>
                  <a:pt x="8345208" y="0"/>
                </a:lnTo>
                <a:lnTo>
                  <a:pt x="8345208" y="8126146"/>
                </a:lnTo>
                <a:lnTo>
                  <a:pt x="0" y="8126146"/>
                </a:lnTo>
                <a:lnTo>
                  <a:pt x="0" y="0"/>
                </a:lnTo>
                <a:close/>
              </a:path>
            </a:pathLst>
          </a:custGeom>
          <a:blipFill>
            <a:blip r:embed="rId2"/>
            <a:stretch>
              <a:fillRect/>
            </a:stretch>
          </a:blipFill>
        </p:spPr>
        <p:txBody>
          <a:bodyPr/>
          <a:lstStyle/>
          <a:p>
            <a:endParaRPr lang="en-US"/>
          </a:p>
        </p:txBody>
      </p:sp>
      <p:sp>
        <p:nvSpPr>
          <p:cNvPr id="3" name="Freeform 3"/>
          <p:cNvSpPr/>
          <p:nvPr/>
        </p:nvSpPr>
        <p:spPr>
          <a:xfrm>
            <a:off x="9144000" y="2002504"/>
            <a:ext cx="8115989" cy="8126147"/>
          </a:xfrm>
          <a:custGeom>
            <a:avLst/>
            <a:gdLst/>
            <a:ahLst/>
            <a:cxnLst/>
            <a:rect l="l" t="t" r="r" b="b"/>
            <a:pathLst>
              <a:path w="8115989" h="8126147">
                <a:moveTo>
                  <a:pt x="0" y="0"/>
                </a:moveTo>
                <a:lnTo>
                  <a:pt x="8115989" y="0"/>
                </a:lnTo>
                <a:lnTo>
                  <a:pt x="8115989" y="8126146"/>
                </a:lnTo>
                <a:lnTo>
                  <a:pt x="0" y="8126146"/>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115511" y="801719"/>
            <a:ext cx="16230600" cy="1200785"/>
          </a:xfrm>
          <a:prstGeom prst="rect">
            <a:avLst/>
          </a:prstGeom>
        </p:spPr>
        <p:txBody>
          <a:bodyPr lIns="0" tIns="0" rIns="0" bIns="0" rtlCol="0" anchor="t">
            <a:spAutoFit/>
          </a:bodyPr>
          <a:lstStyle/>
          <a:p>
            <a:pPr algn="ctr">
              <a:lnSpc>
                <a:spcPts val="9520"/>
              </a:lnSpc>
            </a:pPr>
            <a:r>
              <a:rPr lang="en-US" sz="8000">
                <a:solidFill>
                  <a:srgbClr val="004AAD"/>
                </a:solidFill>
                <a:latin typeface="Anton"/>
                <a:ea typeface="Anton"/>
                <a:cs typeface="Anton"/>
                <a:sym typeface="Anton"/>
              </a:rPr>
              <a:t>RESULTS</a:t>
            </a:r>
          </a:p>
        </p:txBody>
      </p:sp>
      <p:sp>
        <p:nvSpPr>
          <p:cNvPr id="5" name="Freeform 5"/>
          <p:cNvSpPr/>
          <p:nvPr/>
        </p:nvSpPr>
        <p:spPr>
          <a:xfrm>
            <a:off x="-2244105" y="96874"/>
            <a:ext cx="6352098" cy="1905629"/>
          </a:xfrm>
          <a:custGeom>
            <a:avLst/>
            <a:gdLst/>
            <a:ahLst/>
            <a:cxnLst/>
            <a:rect l="l" t="t" r="r" b="b"/>
            <a:pathLst>
              <a:path w="6352098" h="1905629">
                <a:moveTo>
                  <a:pt x="0" y="0"/>
                </a:moveTo>
                <a:lnTo>
                  <a:pt x="6352098" y="0"/>
                </a:lnTo>
                <a:lnTo>
                  <a:pt x="6352098" y="1905630"/>
                </a:lnTo>
                <a:lnTo>
                  <a:pt x="0" y="19056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14569384" y="96874"/>
            <a:ext cx="6352098" cy="1905629"/>
          </a:xfrm>
          <a:custGeom>
            <a:avLst/>
            <a:gdLst/>
            <a:ahLst/>
            <a:cxnLst/>
            <a:rect l="l" t="t" r="r" b="b"/>
            <a:pathLst>
              <a:path w="6352098" h="1905629">
                <a:moveTo>
                  <a:pt x="0" y="0"/>
                </a:moveTo>
                <a:lnTo>
                  <a:pt x="6352098" y="0"/>
                </a:lnTo>
                <a:lnTo>
                  <a:pt x="6352098" y="1905630"/>
                </a:lnTo>
                <a:lnTo>
                  <a:pt x="0" y="19056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4AAD"/>
                </a:solidFill>
                <a:latin typeface="Canva Sans"/>
                <a:ea typeface="Canva Sans"/>
                <a:cs typeface="Canva Sans"/>
                <a:sym typeface="Canva San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1049" y="3955405"/>
            <a:ext cx="17765902" cy="2376189"/>
          </a:xfrm>
          <a:custGeom>
            <a:avLst/>
            <a:gdLst/>
            <a:ahLst/>
            <a:cxnLst/>
            <a:rect l="l" t="t" r="r" b="b"/>
            <a:pathLst>
              <a:path w="17765902" h="2376189">
                <a:moveTo>
                  <a:pt x="0" y="0"/>
                </a:moveTo>
                <a:lnTo>
                  <a:pt x="17765902" y="0"/>
                </a:lnTo>
                <a:lnTo>
                  <a:pt x="17765902" y="2376190"/>
                </a:lnTo>
                <a:lnTo>
                  <a:pt x="0" y="2376190"/>
                </a:lnTo>
                <a:lnTo>
                  <a:pt x="0" y="0"/>
                </a:lnTo>
                <a:close/>
              </a:path>
            </a:pathLst>
          </a:custGeom>
          <a:blipFill>
            <a:blip r:embed="rId2"/>
            <a:stretch>
              <a:fillRect/>
            </a:stretch>
          </a:blipFill>
          <a:ln w="38100" cap="sq">
            <a:solidFill>
              <a:srgbClr val="000000"/>
            </a:solidFill>
            <a:prstDash val="solid"/>
            <a:miter/>
          </a:ln>
        </p:spPr>
        <p:txBody>
          <a:bodyPr/>
          <a:lstStyle/>
          <a:p>
            <a:endParaRPr lang="en-US"/>
          </a:p>
        </p:txBody>
      </p:sp>
      <p:sp>
        <p:nvSpPr>
          <p:cNvPr id="3" name="TextBox 3"/>
          <p:cNvSpPr txBox="1"/>
          <p:nvPr/>
        </p:nvSpPr>
        <p:spPr>
          <a:xfrm>
            <a:off x="651002" y="2191385"/>
            <a:ext cx="16985996" cy="7705726"/>
          </a:xfrm>
          <a:prstGeom prst="rect">
            <a:avLst/>
          </a:prstGeom>
        </p:spPr>
        <p:txBody>
          <a:bodyPr lIns="0" tIns="0" rIns="0" bIns="0" rtlCol="0" anchor="t">
            <a:spAutoFit/>
          </a:bodyPr>
          <a:lstStyle/>
          <a:p>
            <a:pPr algn="l">
              <a:lnSpc>
                <a:spcPts val="3449"/>
              </a:lnSpc>
            </a:pPr>
            <a:r>
              <a:rPr lang="en-US" sz="2499" b="1">
                <a:solidFill>
                  <a:srgbClr val="000000"/>
                </a:solidFill>
                <a:latin typeface="DM Sans Bold"/>
                <a:ea typeface="DM Sans Bold"/>
                <a:cs typeface="DM Sans Bold"/>
                <a:sym typeface="DM Sans Bold"/>
              </a:rPr>
              <a:t>Normalize Historical Concerns with LLM</a:t>
            </a:r>
          </a:p>
          <a:p>
            <a:pPr marL="539749" lvl="1" indent="-269875" algn="l">
              <a:lnSpc>
                <a:spcPts val="3449"/>
              </a:lnSpc>
              <a:buFont typeface="Arial"/>
              <a:buChar char="•"/>
            </a:pPr>
            <a:r>
              <a:rPr lang="en-US" sz="2499">
                <a:solidFill>
                  <a:srgbClr val="000000"/>
                </a:solidFill>
                <a:latin typeface="DM Sans"/>
                <a:ea typeface="DM Sans"/>
                <a:cs typeface="DM Sans"/>
                <a:sym typeface="DM Sans"/>
              </a:rPr>
              <a:t>Use sshleifer/distilbart-cnn-12-6 via Make.com (Make.ai) to clean and unify past customer concerns</a:t>
            </a:r>
          </a:p>
          <a:p>
            <a:pPr marL="539749" lvl="1" indent="-269875" algn="l">
              <a:lnSpc>
                <a:spcPts val="3449"/>
              </a:lnSpc>
              <a:buFont typeface="Arial"/>
              <a:buChar char="•"/>
            </a:pPr>
            <a:r>
              <a:rPr lang="en-US" sz="2499">
                <a:solidFill>
                  <a:srgbClr val="000000"/>
                </a:solidFill>
                <a:latin typeface="DM Sans"/>
                <a:ea typeface="DM Sans"/>
                <a:cs typeface="DM Sans"/>
                <a:sym typeface="DM Sans"/>
              </a:rPr>
              <a:t>Enables more accurate model predictions and reduces semantic mismatch</a:t>
            </a:r>
          </a:p>
          <a:p>
            <a:pPr marL="539749" lvl="1" indent="-269875" algn="l">
              <a:lnSpc>
                <a:spcPts val="3449"/>
              </a:lnSpc>
              <a:buFont typeface="Arial"/>
              <a:buChar char="•"/>
            </a:pPr>
            <a:r>
              <a:rPr lang="en-US" sz="2499">
                <a:solidFill>
                  <a:srgbClr val="000000"/>
                </a:solidFill>
                <a:latin typeface="DM Sans"/>
                <a:ea typeface="DM Sans"/>
                <a:cs typeface="DM Sans"/>
                <a:sym typeface="DM Sans"/>
              </a:rPr>
              <a:t>Pipeline ready but requires premium tokens</a:t>
            </a:r>
          </a:p>
          <a:p>
            <a:pPr algn="l">
              <a:lnSpc>
                <a:spcPts val="3449"/>
              </a:lnSpc>
            </a:pPr>
            <a:endParaRPr lang="en-US" sz="2499">
              <a:solidFill>
                <a:srgbClr val="000000"/>
              </a:solidFill>
              <a:latin typeface="DM Sans"/>
              <a:ea typeface="DM Sans"/>
              <a:cs typeface="DM Sans"/>
              <a:sym typeface="DM Sans"/>
            </a:endParaRPr>
          </a:p>
          <a:p>
            <a:pPr algn="l">
              <a:lnSpc>
                <a:spcPts val="3449"/>
              </a:lnSpc>
            </a:pPr>
            <a:endParaRPr lang="en-US" sz="2499">
              <a:solidFill>
                <a:srgbClr val="000000"/>
              </a:solidFill>
              <a:latin typeface="DM Sans"/>
              <a:ea typeface="DM Sans"/>
              <a:cs typeface="DM Sans"/>
              <a:sym typeface="DM Sans"/>
            </a:endParaRPr>
          </a:p>
          <a:p>
            <a:pPr algn="l">
              <a:lnSpc>
                <a:spcPts val="3449"/>
              </a:lnSpc>
            </a:pPr>
            <a:endParaRPr lang="en-US" sz="2499">
              <a:solidFill>
                <a:srgbClr val="000000"/>
              </a:solidFill>
              <a:latin typeface="DM Sans"/>
              <a:ea typeface="DM Sans"/>
              <a:cs typeface="DM Sans"/>
              <a:sym typeface="DM Sans"/>
            </a:endParaRPr>
          </a:p>
          <a:p>
            <a:pPr algn="l">
              <a:lnSpc>
                <a:spcPts val="3449"/>
              </a:lnSpc>
            </a:pPr>
            <a:endParaRPr lang="en-US" sz="2499">
              <a:solidFill>
                <a:srgbClr val="000000"/>
              </a:solidFill>
              <a:latin typeface="DM Sans"/>
              <a:ea typeface="DM Sans"/>
              <a:cs typeface="DM Sans"/>
              <a:sym typeface="DM Sans"/>
            </a:endParaRPr>
          </a:p>
          <a:p>
            <a:pPr algn="l">
              <a:lnSpc>
                <a:spcPts val="3449"/>
              </a:lnSpc>
            </a:pPr>
            <a:endParaRPr lang="en-US" sz="2499">
              <a:solidFill>
                <a:srgbClr val="000000"/>
              </a:solidFill>
              <a:latin typeface="DM Sans"/>
              <a:ea typeface="DM Sans"/>
              <a:cs typeface="DM Sans"/>
              <a:sym typeface="DM Sans"/>
            </a:endParaRPr>
          </a:p>
          <a:p>
            <a:pPr algn="l">
              <a:lnSpc>
                <a:spcPts val="3449"/>
              </a:lnSpc>
            </a:pPr>
            <a:endParaRPr lang="en-US" sz="2499">
              <a:solidFill>
                <a:srgbClr val="000000"/>
              </a:solidFill>
              <a:latin typeface="DM Sans"/>
              <a:ea typeface="DM Sans"/>
              <a:cs typeface="DM Sans"/>
              <a:sym typeface="DM Sans"/>
            </a:endParaRPr>
          </a:p>
          <a:p>
            <a:pPr algn="l">
              <a:lnSpc>
                <a:spcPts val="3449"/>
              </a:lnSpc>
            </a:pPr>
            <a:r>
              <a:rPr lang="en-US" sz="2499" b="1">
                <a:solidFill>
                  <a:srgbClr val="000000"/>
                </a:solidFill>
                <a:latin typeface="DM Sans Bold"/>
                <a:ea typeface="DM Sans Bold"/>
                <a:cs typeface="DM Sans Bold"/>
                <a:sym typeface="DM Sans Bold"/>
              </a:rPr>
              <a:t>Live Integration with Tekmetric</a:t>
            </a:r>
          </a:p>
          <a:p>
            <a:pPr marL="539749" lvl="1" indent="-269875" algn="l">
              <a:lnSpc>
                <a:spcPts val="3449"/>
              </a:lnSpc>
              <a:buFont typeface="Arial"/>
              <a:buChar char="•"/>
            </a:pPr>
            <a:r>
              <a:rPr lang="en-US" sz="2499">
                <a:solidFill>
                  <a:srgbClr val="000000"/>
                </a:solidFill>
                <a:latin typeface="DM Sans"/>
                <a:ea typeface="DM Sans"/>
                <a:cs typeface="DM Sans"/>
                <a:sym typeface="DM Sans"/>
              </a:rPr>
              <a:t>Sync with Tekmetric’s API to fetch live repair records</a:t>
            </a:r>
          </a:p>
          <a:p>
            <a:pPr marL="539749" lvl="1" indent="-269875" algn="l">
              <a:lnSpc>
                <a:spcPts val="3449"/>
              </a:lnSpc>
              <a:buFont typeface="Arial"/>
              <a:buChar char="•"/>
            </a:pPr>
            <a:r>
              <a:rPr lang="en-US" sz="2499">
                <a:solidFill>
                  <a:srgbClr val="000000"/>
                </a:solidFill>
                <a:latin typeface="DM Sans"/>
                <a:ea typeface="DM Sans"/>
                <a:cs typeface="DM Sans"/>
                <a:sym typeface="DM Sans"/>
              </a:rPr>
              <a:t>Keeps database continuously updated with real-time customer concerns and repairs</a:t>
            </a:r>
          </a:p>
          <a:p>
            <a:pPr algn="l">
              <a:lnSpc>
                <a:spcPts val="3449"/>
              </a:lnSpc>
            </a:pPr>
            <a:endParaRPr lang="en-US" sz="2499">
              <a:solidFill>
                <a:srgbClr val="000000"/>
              </a:solidFill>
              <a:latin typeface="DM Sans"/>
              <a:ea typeface="DM Sans"/>
              <a:cs typeface="DM Sans"/>
              <a:sym typeface="DM Sans"/>
            </a:endParaRPr>
          </a:p>
          <a:p>
            <a:pPr algn="l">
              <a:lnSpc>
                <a:spcPts val="3449"/>
              </a:lnSpc>
            </a:pPr>
            <a:r>
              <a:rPr lang="en-US" sz="2499" b="1">
                <a:solidFill>
                  <a:srgbClr val="000000"/>
                </a:solidFill>
                <a:latin typeface="DM Sans Bold"/>
                <a:ea typeface="DM Sans Bold"/>
                <a:cs typeface="DM Sans Bold"/>
                <a:sym typeface="DM Sans Bold"/>
              </a:rPr>
              <a:t>Mobile App for Wider Access</a:t>
            </a:r>
          </a:p>
          <a:p>
            <a:pPr marL="539749" lvl="1" indent="-269875" algn="l">
              <a:lnSpc>
                <a:spcPts val="3449"/>
              </a:lnSpc>
              <a:buFont typeface="Arial"/>
              <a:buChar char="•"/>
            </a:pPr>
            <a:r>
              <a:rPr lang="en-US" sz="2499">
                <a:solidFill>
                  <a:srgbClr val="000000"/>
                </a:solidFill>
                <a:latin typeface="DM Sans"/>
                <a:ea typeface="DM Sans"/>
                <a:cs typeface="DM Sans"/>
                <a:sym typeface="DM Sans"/>
              </a:rPr>
              <a:t>Build an intuitive iOS/Android app for repair shops and customers</a:t>
            </a:r>
          </a:p>
          <a:p>
            <a:pPr marL="539749" lvl="1" indent="-269875" algn="l">
              <a:lnSpc>
                <a:spcPts val="3449"/>
              </a:lnSpc>
              <a:buFont typeface="Arial"/>
              <a:buChar char="•"/>
            </a:pPr>
            <a:r>
              <a:rPr lang="en-US" sz="2499">
                <a:solidFill>
                  <a:srgbClr val="000000"/>
                </a:solidFill>
                <a:latin typeface="DM Sans"/>
                <a:ea typeface="DM Sans"/>
                <a:cs typeface="DM Sans"/>
                <a:sym typeface="DM Sans"/>
              </a:rPr>
              <a:t>Offers on-the-go diagnosis, repair history access, and booking suggestions</a:t>
            </a:r>
          </a:p>
          <a:p>
            <a:pPr marL="539749" lvl="1" indent="-269875" algn="l">
              <a:lnSpc>
                <a:spcPts val="3449"/>
              </a:lnSpc>
              <a:buFont typeface="Arial"/>
              <a:buChar char="•"/>
            </a:pPr>
            <a:r>
              <a:rPr lang="en-US" sz="2499">
                <a:solidFill>
                  <a:srgbClr val="000000"/>
                </a:solidFill>
                <a:latin typeface="DM Sans"/>
                <a:ea typeface="DM Sans"/>
                <a:cs typeface="DM Sans"/>
                <a:sym typeface="DM Sans"/>
              </a:rPr>
              <a:t>Prepares AutoShopIQ for market readiness</a:t>
            </a:r>
          </a:p>
        </p:txBody>
      </p:sp>
      <p:sp>
        <p:nvSpPr>
          <p:cNvPr id="4" name="TextBox 4"/>
          <p:cNvSpPr txBox="1"/>
          <p:nvPr/>
        </p:nvSpPr>
        <p:spPr>
          <a:xfrm>
            <a:off x="1028700" y="1038225"/>
            <a:ext cx="16230600" cy="1200785"/>
          </a:xfrm>
          <a:prstGeom prst="rect">
            <a:avLst/>
          </a:prstGeom>
        </p:spPr>
        <p:txBody>
          <a:bodyPr lIns="0" tIns="0" rIns="0" bIns="0" rtlCol="0" anchor="t">
            <a:spAutoFit/>
          </a:bodyPr>
          <a:lstStyle/>
          <a:p>
            <a:pPr algn="ctr">
              <a:lnSpc>
                <a:spcPts val="9520"/>
              </a:lnSpc>
            </a:pPr>
            <a:r>
              <a:rPr lang="en-US" sz="8000">
                <a:solidFill>
                  <a:srgbClr val="004AAD"/>
                </a:solidFill>
                <a:latin typeface="Anton"/>
                <a:ea typeface="Anton"/>
                <a:cs typeface="Anton"/>
                <a:sym typeface="Anton"/>
              </a:rPr>
              <a:t>NEXT STEPS</a:t>
            </a:r>
          </a:p>
        </p:txBody>
      </p:sp>
      <p:sp>
        <p:nvSpPr>
          <p:cNvPr id="5" name="TextBox 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51002" y="2367400"/>
            <a:ext cx="11879570" cy="7705726"/>
          </a:xfrm>
          <a:prstGeom prst="rect">
            <a:avLst/>
          </a:prstGeom>
        </p:spPr>
        <p:txBody>
          <a:bodyPr lIns="0" tIns="0" rIns="0" bIns="0" rtlCol="0" anchor="t">
            <a:spAutoFit/>
          </a:bodyPr>
          <a:lstStyle/>
          <a:p>
            <a:pPr algn="l">
              <a:lnSpc>
                <a:spcPts val="3449"/>
              </a:lnSpc>
            </a:pPr>
            <a:r>
              <a:rPr lang="en-US" sz="2499" b="1">
                <a:solidFill>
                  <a:srgbClr val="000000"/>
                </a:solidFill>
                <a:latin typeface="DM Sans Bold"/>
                <a:ea typeface="DM Sans Bold"/>
                <a:cs typeface="DM Sans Bold"/>
                <a:sym typeface="DM Sans Bold"/>
              </a:rPr>
              <a:t>🧠 AI &amp; NLP</a:t>
            </a:r>
          </a:p>
          <a:p>
            <a:pPr marL="539749" lvl="1" indent="-269875" algn="l">
              <a:lnSpc>
                <a:spcPts val="3449"/>
              </a:lnSpc>
              <a:buFont typeface="Arial"/>
              <a:buChar char="•"/>
            </a:pPr>
            <a:r>
              <a:rPr lang="en-US" sz="2499">
                <a:solidFill>
                  <a:srgbClr val="000000"/>
                </a:solidFill>
                <a:latin typeface="DM Sans"/>
                <a:ea typeface="DM Sans"/>
                <a:cs typeface="DM Sans"/>
                <a:sym typeface="DM Sans"/>
              </a:rPr>
              <a:t>GPT-3.5 Turbo via Dify.ai for conversational repair assistant</a:t>
            </a:r>
          </a:p>
          <a:p>
            <a:pPr marL="539749" lvl="1" indent="-269875" algn="l">
              <a:lnSpc>
                <a:spcPts val="3449"/>
              </a:lnSpc>
              <a:buFont typeface="Arial"/>
              <a:buChar char="•"/>
            </a:pPr>
            <a:r>
              <a:rPr lang="en-US" sz="2499">
                <a:solidFill>
                  <a:srgbClr val="000000"/>
                </a:solidFill>
                <a:latin typeface="DM Sans"/>
                <a:ea typeface="DM Sans"/>
                <a:cs typeface="DM Sans"/>
                <a:sym typeface="DM Sans"/>
              </a:rPr>
              <a:t>Sentence Transformers (all-mpnet-base-v2) for semantic matching</a:t>
            </a:r>
          </a:p>
          <a:p>
            <a:pPr marL="539749" lvl="1" indent="-269875" algn="l">
              <a:lnSpc>
                <a:spcPts val="3449"/>
              </a:lnSpc>
              <a:buFont typeface="Arial"/>
              <a:buChar char="•"/>
            </a:pPr>
            <a:r>
              <a:rPr lang="en-US" sz="2499">
                <a:solidFill>
                  <a:srgbClr val="000000"/>
                </a:solidFill>
                <a:latin typeface="DM Sans"/>
                <a:ea typeface="DM Sans"/>
                <a:cs typeface="DM Sans"/>
                <a:sym typeface="DM Sans"/>
              </a:rPr>
              <a:t>sshleifer/distilbart-cnn-12-6 via Make.com (Make.ai) to automate customer concern normalization</a:t>
            </a:r>
          </a:p>
          <a:p>
            <a:pPr algn="l">
              <a:lnSpc>
                <a:spcPts val="3449"/>
              </a:lnSpc>
            </a:pPr>
            <a:endParaRPr lang="en-US" sz="2499">
              <a:solidFill>
                <a:srgbClr val="000000"/>
              </a:solidFill>
              <a:latin typeface="DM Sans"/>
              <a:ea typeface="DM Sans"/>
              <a:cs typeface="DM Sans"/>
              <a:sym typeface="DM Sans"/>
            </a:endParaRPr>
          </a:p>
          <a:p>
            <a:pPr algn="l">
              <a:lnSpc>
                <a:spcPts val="3449"/>
              </a:lnSpc>
            </a:pPr>
            <a:r>
              <a:rPr lang="en-US" sz="2499" b="1">
                <a:solidFill>
                  <a:srgbClr val="000000"/>
                </a:solidFill>
                <a:latin typeface="DM Sans Bold"/>
                <a:ea typeface="DM Sans Bold"/>
                <a:cs typeface="DM Sans Bold"/>
                <a:sym typeface="DM Sans Bold"/>
              </a:rPr>
              <a:t>📊 Data Processing &amp; Modeling</a:t>
            </a:r>
          </a:p>
          <a:p>
            <a:pPr marL="539749" lvl="1" indent="-269875" algn="l">
              <a:lnSpc>
                <a:spcPts val="3449"/>
              </a:lnSpc>
              <a:buFont typeface="Arial"/>
              <a:buChar char="•"/>
            </a:pPr>
            <a:r>
              <a:rPr lang="en-US" sz="2499">
                <a:solidFill>
                  <a:srgbClr val="000000"/>
                </a:solidFill>
                <a:latin typeface="DM Sans"/>
                <a:ea typeface="DM Sans"/>
                <a:cs typeface="DM Sans"/>
                <a:sym typeface="DM Sans"/>
              </a:rPr>
              <a:t>Python (pandas, regex, numpy) for data cleaning &amp; structuring</a:t>
            </a:r>
          </a:p>
          <a:p>
            <a:pPr marL="539749" lvl="1" indent="-269875" algn="l">
              <a:lnSpc>
                <a:spcPts val="3449"/>
              </a:lnSpc>
              <a:buFont typeface="Arial"/>
              <a:buChar char="•"/>
            </a:pPr>
            <a:r>
              <a:rPr lang="en-US" sz="2499">
                <a:solidFill>
                  <a:srgbClr val="000000"/>
                </a:solidFill>
                <a:latin typeface="DM Sans"/>
                <a:ea typeface="DM Sans"/>
                <a:cs typeface="DM Sans"/>
                <a:sym typeface="DM Sans"/>
              </a:rPr>
              <a:t>Cosine similarity + DBSCAN for concern clustering</a:t>
            </a:r>
          </a:p>
          <a:p>
            <a:pPr marL="539749" lvl="1" indent="-269875" algn="l">
              <a:lnSpc>
                <a:spcPts val="3449"/>
              </a:lnSpc>
              <a:buFont typeface="Arial"/>
              <a:buChar char="•"/>
            </a:pPr>
            <a:r>
              <a:rPr lang="en-US" sz="2499">
                <a:solidFill>
                  <a:srgbClr val="000000"/>
                </a:solidFill>
                <a:latin typeface="DM Sans"/>
                <a:ea typeface="DM Sans"/>
                <a:cs typeface="DM Sans"/>
                <a:sym typeface="DM Sans"/>
              </a:rPr>
              <a:t>Regex patterns for extracting vehicle/job details</a:t>
            </a:r>
          </a:p>
          <a:p>
            <a:pPr algn="l">
              <a:lnSpc>
                <a:spcPts val="3449"/>
              </a:lnSpc>
            </a:pPr>
            <a:endParaRPr lang="en-US" sz="2499">
              <a:solidFill>
                <a:srgbClr val="000000"/>
              </a:solidFill>
              <a:latin typeface="DM Sans"/>
              <a:ea typeface="DM Sans"/>
              <a:cs typeface="DM Sans"/>
              <a:sym typeface="DM Sans"/>
            </a:endParaRPr>
          </a:p>
          <a:p>
            <a:pPr algn="l">
              <a:lnSpc>
                <a:spcPts val="3449"/>
              </a:lnSpc>
            </a:pPr>
            <a:r>
              <a:rPr lang="en-US" sz="2499" b="1">
                <a:solidFill>
                  <a:srgbClr val="000000"/>
                </a:solidFill>
                <a:latin typeface="DM Sans Bold"/>
                <a:ea typeface="DM Sans Bold"/>
                <a:cs typeface="DM Sans Bold"/>
                <a:sym typeface="DM Sans Bold"/>
              </a:rPr>
              <a:t>🌐 Application Infrastructure</a:t>
            </a:r>
          </a:p>
          <a:p>
            <a:pPr marL="539749" lvl="1" indent="-269875" algn="l">
              <a:lnSpc>
                <a:spcPts val="3449"/>
              </a:lnSpc>
              <a:buFont typeface="Arial"/>
              <a:buChar char="•"/>
            </a:pPr>
            <a:r>
              <a:rPr lang="en-US" sz="2499">
                <a:solidFill>
                  <a:srgbClr val="000000"/>
                </a:solidFill>
                <a:latin typeface="DM Sans"/>
                <a:ea typeface="DM Sans"/>
                <a:cs typeface="DM Sans"/>
                <a:sym typeface="DM Sans"/>
              </a:rPr>
              <a:t>Flask API for repair recommendation backend</a:t>
            </a:r>
          </a:p>
          <a:p>
            <a:pPr marL="539749" lvl="1" indent="-269875" algn="l">
              <a:lnSpc>
                <a:spcPts val="3449"/>
              </a:lnSpc>
              <a:buFont typeface="Arial"/>
              <a:buChar char="•"/>
            </a:pPr>
            <a:r>
              <a:rPr lang="en-US" sz="2499">
                <a:solidFill>
                  <a:srgbClr val="000000"/>
                </a:solidFill>
                <a:latin typeface="DM Sans"/>
                <a:ea typeface="DM Sans"/>
                <a:cs typeface="DM Sans"/>
                <a:sym typeface="DM Sans"/>
              </a:rPr>
              <a:t>ngrok to expose local services for Dify integration</a:t>
            </a:r>
          </a:p>
          <a:p>
            <a:pPr marL="539749" lvl="1" indent="-269875" algn="l">
              <a:lnSpc>
                <a:spcPts val="3449"/>
              </a:lnSpc>
              <a:buFont typeface="Arial"/>
              <a:buChar char="•"/>
            </a:pPr>
            <a:r>
              <a:rPr lang="en-US" sz="2499">
                <a:solidFill>
                  <a:srgbClr val="000000"/>
                </a:solidFill>
                <a:latin typeface="DM Sans"/>
                <a:ea typeface="DM Sans"/>
                <a:cs typeface="DM Sans"/>
                <a:sym typeface="DM Sans"/>
              </a:rPr>
              <a:t>Streamlit for early-stage UI prototyping</a:t>
            </a:r>
          </a:p>
          <a:p>
            <a:pPr algn="l">
              <a:lnSpc>
                <a:spcPts val="3449"/>
              </a:lnSpc>
            </a:pPr>
            <a:endParaRPr lang="en-US" sz="2499">
              <a:solidFill>
                <a:srgbClr val="000000"/>
              </a:solidFill>
              <a:latin typeface="DM Sans"/>
              <a:ea typeface="DM Sans"/>
              <a:cs typeface="DM Sans"/>
              <a:sym typeface="DM Sans"/>
            </a:endParaRPr>
          </a:p>
          <a:p>
            <a:pPr algn="l">
              <a:lnSpc>
                <a:spcPts val="3449"/>
              </a:lnSpc>
            </a:pPr>
            <a:r>
              <a:rPr lang="en-US" sz="2499" b="1">
                <a:solidFill>
                  <a:srgbClr val="000000"/>
                </a:solidFill>
                <a:latin typeface="DM Sans Bold"/>
                <a:ea typeface="DM Sans Bold"/>
                <a:cs typeface="DM Sans Bold"/>
                <a:sym typeface="DM Sans Bold"/>
              </a:rPr>
              <a:t>🔍 Analytics &amp; Visualization</a:t>
            </a:r>
          </a:p>
          <a:p>
            <a:pPr marL="539749" lvl="1" indent="-269875" algn="l">
              <a:lnSpc>
                <a:spcPts val="3449"/>
              </a:lnSpc>
              <a:buFont typeface="Arial"/>
              <a:buChar char="•"/>
            </a:pPr>
            <a:r>
              <a:rPr lang="en-US" sz="2499">
                <a:solidFill>
                  <a:srgbClr val="000000"/>
                </a:solidFill>
                <a:latin typeface="DM Sans"/>
                <a:ea typeface="DM Sans"/>
                <a:cs typeface="DM Sans"/>
                <a:sym typeface="DM Sans"/>
              </a:rPr>
              <a:t>matplotlib, seaborn for EDA: trends by mileage, year, and concern type</a:t>
            </a:r>
          </a:p>
        </p:txBody>
      </p:sp>
      <p:sp>
        <p:nvSpPr>
          <p:cNvPr id="3" name="Freeform 3"/>
          <p:cNvSpPr/>
          <p:nvPr/>
        </p:nvSpPr>
        <p:spPr>
          <a:xfrm>
            <a:off x="12733803" y="2954162"/>
            <a:ext cx="7131175" cy="6690339"/>
          </a:xfrm>
          <a:custGeom>
            <a:avLst/>
            <a:gdLst/>
            <a:ahLst/>
            <a:cxnLst/>
            <a:rect l="l" t="t" r="r" b="b"/>
            <a:pathLst>
              <a:path w="7131175" h="6690339">
                <a:moveTo>
                  <a:pt x="0" y="0"/>
                </a:moveTo>
                <a:lnTo>
                  <a:pt x="7131175" y="0"/>
                </a:lnTo>
                <a:lnTo>
                  <a:pt x="7131175" y="6690338"/>
                </a:lnTo>
                <a:lnTo>
                  <a:pt x="0" y="66903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028700" y="1038225"/>
            <a:ext cx="16230600" cy="1200785"/>
          </a:xfrm>
          <a:prstGeom prst="rect">
            <a:avLst/>
          </a:prstGeom>
        </p:spPr>
        <p:txBody>
          <a:bodyPr lIns="0" tIns="0" rIns="0" bIns="0" rtlCol="0" anchor="t">
            <a:spAutoFit/>
          </a:bodyPr>
          <a:lstStyle/>
          <a:p>
            <a:pPr algn="ctr">
              <a:lnSpc>
                <a:spcPts val="9520"/>
              </a:lnSpc>
            </a:pPr>
            <a:r>
              <a:rPr lang="en-US" sz="8000">
                <a:solidFill>
                  <a:srgbClr val="004AAD"/>
                </a:solidFill>
                <a:latin typeface="Anton"/>
                <a:ea typeface="Anton"/>
                <a:cs typeface="Anton"/>
                <a:sym typeface="Anton"/>
              </a:rPr>
              <a:t>TOOLS &amp; TECHNOLOGIES USED</a:t>
            </a:r>
          </a:p>
        </p:txBody>
      </p:sp>
      <p:sp>
        <p:nvSpPr>
          <p:cNvPr id="5" name="TextBox 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133583" y="1025000"/>
            <a:ext cx="8308835" cy="8233300"/>
          </a:xfrm>
          <a:custGeom>
            <a:avLst/>
            <a:gdLst/>
            <a:ahLst/>
            <a:cxnLst/>
            <a:rect l="l" t="t" r="r" b="b"/>
            <a:pathLst>
              <a:path w="8308835" h="8233300">
                <a:moveTo>
                  <a:pt x="0" y="0"/>
                </a:moveTo>
                <a:lnTo>
                  <a:pt x="8308834" y="0"/>
                </a:lnTo>
                <a:lnTo>
                  <a:pt x="8308834" y="8233300"/>
                </a:lnTo>
                <a:lnTo>
                  <a:pt x="0" y="82333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51919" y="3809516"/>
            <a:ext cx="16230600" cy="1200785"/>
          </a:xfrm>
          <a:prstGeom prst="rect">
            <a:avLst/>
          </a:prstGeom>
        </p:spPr>
        <p:txBody>
          <a:bodyPr lIns="0" tIns="0" rIns="0" bIns="0" rtlCol="0" anchor="t">
            <a:spAutoFit/>
          </a:bodyPr>
          <a:lstStyle/>
          <a:p>
            <a:pPr algn="ctr">
              <a:lnSpc>
                <a:spcPts val="9520"/>
              </a:lnSpc>
            </a:pPr>
            <a:r>
              <a:rPr lang="en-US" sz="8000">
                <a:solidFill>
                  <a:srgbClr val="004AAD"/>
                </a:solidFill>
                <a:latin typeface="Anton"/>
                <a:ea typeface="Anton"/>
                <a:cs typeface="Anton"/>
                <a:sym typeface="Anton"/>
              </a:rPr>
              <a:t>THANKYOU FOR WATCHING</a:t>
            </a:r>
          </a:p>
        </p:txBody>
      </p:sp>
      <p:sp>
        <p:nvSpPr>
          <p:cNvPr id="4" name="TextBox 4"/>
          <p:cNvSpPr txBox="1"/>
          <p:nvPr/>
        </p:nvSpPr>
        <p:spPr>
          <a:xfrm>
            <a:off x="3320432" y="5210659"/>
            <a:ext cx="10965069" cy="1276350"/>
          </a:xfrm>
          <a:prstGeom prst="rect">
            <a:avLst/>
          </a:prstGeom>
        </p:spPr>
        <p:txBody>
          <a:bodyPr lIns="0" tIns="0" rIns="0" bIns="0" rtlCol="0" anchor="t">
            <a:spAutoFit/>
          </a:bodyPr>
          <a:lstStyle/>
          <a:p>
            <a:pPr algn="l">
              <a:lnSpc>
                <a:spcPts val="3449"/>
              </a:lnSpc>
            </a:pPr>
            <a:r>
              <a:rPr lang="en-US" sz="2499" b="1">
                <a:solidFill>
                  <a:srgbClr val="000000"/>
                </a:solidFill>
                <a:latin typeface="DM Sans Bold"/>
                <a:ea typeface="DM Sans Bold"/>
                <a:cs typeface="DM Sans Bold"/>
                <a:sym typeface="DM Sans Bold"/>
              </a:rPr>
              <a:t>🔗 Github: </a:t>
            </a:r>
            <a:r>
              <a:rPr lang="en-US" sz="2499" b="1" u="sng">
                <a:solidFill>
                  <a:srgbClr val="000000"/>
                </a:solidFill>
                <a:latin typeface="DM Sans Bold"/>
                <a:ea typeface="DM Sans Bold"/>
                <a:cs typeface="DM Sans Bold"/>
                <a:sym typeface="DM Sans Bold"/>
                <a:hlinkClick r:id="rId4" tooltip="https://github.com/yash10parihar/AutoShopIQ.git"/>
              </a:rPr>
              <a:t>https://github.com/yash10parihar/AutoShopIQ.git</a:t>
            </a:r>
          </a:p>
          <a:p>
            <a:pPr algn="l">
              <a:lnSpc>
                <a:spcPts val="3449"/>
              </a:lnSpc>
            </a:pPr>
            <a:r>
              <a:rPr lang="en-US" sz="2499" b="1">
                <a:solidFill>
                  <a:srgbClr val="000000"/>
                </a:solidFill>
                <a:latin typeface="DM Sans Bold"/>
                <a:ea typeface="DM Sans Bold"/>
                <a:cs typeface="DM Sans Bold"/>
                <a:sym typeface="DM Sans Bold"/>
              </a:rPr>
              <a:t>🔗 DIFY: </a:t>
            </a:r>
            <a:r>
              <a:rPr lang="en-US" sz="2499" b="1" u="sng">
                <a:solidFill>
                  <a:srgbClr val="000000"/>
                </a:solidFill>
                <a:latin typeface="DM Sans Bold"/>
                <a:ea typeface="DM Sans Bold"/>
                <a:cs typeface="DM Sans Bold"/>
                <a:sym typeface="DM Sans Bold"/>
                <a:hlinkClick r:id="rId5" tooltip="https://udify.app/chat/T6MxcizqM3HRO8O2"/>
              </a:rPr>
              <a:t>https://udify.app/chat/T6MxcizqM3HRO8O2</a:t>
            </a:r>
          </a:p>
          <a:p>
            <a:pPr algn="l">
              <a:lnSpc>
                <a:spcPts val="3449"/>
              </a:lnSpc>
            </a:pPr>
            <a:r>
              <a:rPr lang="en-US" sz="2499" b="1">
                <a:solidFill>
                  <a:srgbClr val="000000"/>
                </a:solidFill>
                <a:latin typeface="DM Sans Bold"/>
                <a:ea typeface="DM Sans Bold"/>
                <a:cs typeface="DM Sans Bold"/>
                <a:sym typeface="DM Sans Bold"/>
              </a:rPr>
              <a:t>🔗 Make: </a:t>
            </a:r>
            <a:r>
              <a:rPr lang="en-US" sz="2499" b="1" u="sng">
                <a:solidFill>
                  <a:srgbClr val="000000"/>
                </a:solidFill>
                <a:latin typeface="DM Sans Bold"/>
                <a:ea typeface="DM Sans Bold"/>
                <a:cs typeface="DM Sans Bold"/>
                <a:sym typeface="DM Sans Bold"/>
                <a:hlinkClick r:id="rId6" tooltip="https://us2.make.com/699887/scenarios/1431597/edit"/>
              </a:rPr>
              <a:t>https://us2.make.com/699887/scenarios/1431597/edit</a:t>
            </a:r>
          </a:p>
        </p:txBody>
      </p:sp>
      <p:sp>
        <p:nvSpPr>
          <p:cNvPr id="5" name="TextBox 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1270</Words>
  <Application>Microsoft Office PowerPoint</Application>
  <PresentationFormat>Custom</PresentationFormat>
  <Paragraphs>194</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Calibri</vt:lpstr>
      <vt:lpstr>DM Sans Bold</vt:lpstr>
      <vt:lpstr>DM Sans</vt:lpstr>
      <vt:lpstr>Canva Sans</vt:lpstr>
      <vt:lpstr>Anton</vt:lpstr>
      <vt:lpstr>Antonio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White Illustrative Modern Automotive Mechanical Engineering Presentation</dc:title>
  <cp:lastModifiedBy>Yash Parihar</cp:lastModifiedBy>
  <cp:revision>2</cp:revision>
  <dcterms:created xsi:type="dcterms:W3CDTF">2006-08-16T00:00:00Z</dcterms:created>
  <dcterms:modified xsi:type="dcterms:W3CDTF">2025-04-21T14:34:00Z</dcterms:modified>
  <dc:identifier>DAGkuEhfytg</dc:identifier>
</cp:coreProperties>
</file>